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534" r:id="rId3"/>
    <p:sldId id="532" r:id="rId4"/>
    <p:sldId id="533" r:id="rId5"/>
    <p:sldId id="427" r:id="rId6"/>
    <p:sldId id="419" r:id="rId7"/>
    <p:sldId id="530" r:id="rId8"/>
    <p:sldId id="435" r:id="rId9"/>
    <p:sldId id="436" r:id="rId10"/>
    <p:sldId id="438" r:id="rId11"/>
    <p:sldId id="429" r:id="rId12"/>
    <p:sldId id="531" r:id="rId13"/>
    <p:sldId id="437" r:id="rId14"/>
    <p:sldId id="424" r:id="rId15"/>
    <p:sldId id="265" r:id="rId16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473" autoAdjust="0"/>
    <p:restoredTop sz="75366" autoAdjust="0"/>
  </p:normalViewPr>
  <p:slideViewPr>
    <p:cSldViewPr snapToGrid="0">
      <p:cViewPr varScale="1">
        <p:scale>
          <a:sx n="95" d="100"/>
          <a:sy n="95" d="100"/>
        </p:scale>
        <p:origin x="61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2" d="100"/>
          <a:sy n="112" d="100"/>
        </p:scale>
        <p:origin x="1424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C1CA79-2599-4315-B6AE-5F2874CAD386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CA2357-0992-46ED-803D-80E7A74122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84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CA2357-0992-46ED-803D-80E7A74122F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85884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Liberation Sans" pitchFamily="34" charset="0"/>
              <a:buChar char="•"/>
            </a:pPr>
            <a:r>
              <a:rPr lang="en-US" altLang="ko-KR" dirty="0">
                <a:latin typeface="Liberation Serif" pitchFamily="18" charset="0"/>
                <a:cs typeface="Liberation Serif" pitchFamily="18" charset="0"/>
              </a:rPr>
              <a:t> Zero base</a:t>
            </a:r>
            <a:r>
              <a:rPr lang="ko-KR" altLang="en-US" dirty="0">
                <a:latin typeface="Liberation Serif" pitchFamily="18" charset="0"/>
                <a:cs typeface="Liberation Serif" pitchFamily="18" charset="0"/>
              </a:rPr>
              <a:t>에서 뭔가를 얻어 가는 시간 짧은 시간이지만 직접 어떤 결과물을 얻어 보는게 가장 많은 도움이 될 것 같다</a:t>
            </a:r>
            <a:r>
              <a:rPr lang="en-US" altLang="ko-KR" dirty="0">
                <a:latin typeface="Liberation Serif" pitchFamily="18" charset="0"/>
                <a:cs typeface="Liberation Serif" pitchFamily="18" charset="0"/>
              </a:rPr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latin typeface="Liberation Serif" pitchFamily="18" charset="0"/>
                <a:cs typeface="Liberation Serif" pitchFamily="18" charset="0"/>
              </a:rPr>
              <a:t> 이미 </a:t>
            </a:r>
            <a:r>
              <a:rPr lang="en-US" altLang="ko-KR" dirty="0">
                <a:latin typeface="Liberation Serif" pitchFamily="18" charset="0"/>
                <a:cs typeface="Liberation Serif" pitchFamily="18" charset="0"/>
              </a:rPr>
              <a:t>Technical Background</a:t>
            </a:r>
            <a:r>
              <a:rPr lang="ko-KR" altLang="en-US" dirty="0">
                <a:latin typeface="Liberation Serif" pitchFamily="18" charset="0"/>
                <a:cs typeface="Liberation Serif" pitchFamily="18" charset="0"/>
              </a:rPr>
              <a:t>가 있으신 분들에게는 쉬운 내용일 수 있다</a:t>
            </a:r>
            <a:r>
              <a:rPr lang="en-US" altLang="ko-KR" dirty="0">
                <a:latin typeface="Liberation Serif" pitchFamily="18" charset="0"/>
                <a:cs typeface="Liberation Serif" pitchFamily="18" charset="0"/>
              </a:rPr>
              <a:t>.</a:t>
            </a:r>
            <a:r>
              <a:rPr lang="ko-KR" altLang="en-US" dirty="0">
                <a:latin typeface="Liberation Serif" pitchFamily="18" charset="0"/>
                <a:cs typeface="Liberation Serif" pitchFamily="18" charset="0"/>
              </a:rPr>
              <a:t> 기술적을 아무것도 모르시는 분들을 대상으로 함</a:t>
            </a:r>
            <a:endParaRPr lang="en-US" altLang="ko-KR" dirty="0">
              <a:latin typeface="Liberation Serif" pitchFamily="18" charset="0"/>
              <a:cs typeface="Liberation Serif" pitchFamily="18" charset="0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CA2357-0992-46ED-803D-80E7A74122F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53849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Liberation Sans" pitchFamily="34" charset="0"/>
              <a:buChar char="•"/>
            </a:pPr>
            <a:r>
              <a:rPr lang="en-US" altLang="ko-KR" dirty="0">
                <a:latin typeface="Liberation Serif" pitchFamily="18" charset="0"/>
                <a:cs typeface="Liberation Serif" pitchFamily="18" charset="0"/>
              </a:rPr>
              <a:t> Zero base</a:t>
            </a:r>
            <a:r>
              <a:rPr lang="ko-KR" altLang="en-US" dirty="0">
                <a:latin typeface="Liberation Serif" pitchFamily="18" charset="0"/>
                <a:cs typeface="Liberation Serif" pitchFamily="18" charset="0"/>
              </a:rPr>
              <a:t>에서 뭔가를 얻어 가는 시간 짧은 시간이지만 직접 어떤 결과물을 얻어 보는게 가장 많은 도움이 될 것 같다</a:t>
            </a:r>
            <a:r>
              <a:rPr lang="en-US" altLang="ko-KR" dirty="0">
                <a:latin typeface="Liberation Serif" pitchFamily="18" charset="0"/>
                <a:cs typeface="Liberation Serif" pitchFamily="18" charset="0"/>
              </a:rPr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latin typeface="Liberation Serif" pitchFamily="18" charset="0"/>
                <a:cs typeface="Liberation Serif" pitchFamily="18" charset="0"/>
              </a:rPr>
              <a:t> 이미 </a:t>
            </a:r>
            <a:r>
              <a:rPr lang="en-US" altLang="ko-KR" dirty="0">
                <a:latin typeface="Liberation Serif" pitchFamily="18" charset="0"/>
                <a:cs typeface="Liberation Serif" pitchFamily="18" charset="0"/>
              </a:rPr>
              <a:t>Technical Background</a:t>
            </a:r>
            <a:r>
              <a:rPr lang="ko-KR" altLang="en-US" dirty="0">
                <a:latin typeface="Liberation Serif" pitchFamily="18" charset="0"/>
                <a:cs typeface="Liberation Serif" pitchFamily="18" charset="0"/>
              </a:rPr>
              <a:t>가 있으신 분들에게는 쉬운 내용일 수 있다</a:t>
            </a:r>
            <a:r>
              <a:rPr lang="en-US" altLang="ko-KR" dirty="0">
                <a:latin typeface="Liberation Serif" pitchFamily="18" charset="0"/>
                <a:cs typeface="Liberation Serif" pitchFamily="18" charset="0"/>
              </a:rPr>
              <a:t>.</a:t>
            </a:r>
            <a:r>
              <a:rPr lang="ko-KR" altLang="en-US" dirty="0">
                <a:latin typeface="Liberation Serif" pitchFamily="18" charset="0"/>
                <a:cs typeface="Liberation Serif" pitchFamily="18" charset="0"/>
              </a:rPr>
              <a:t> 기술적을 아무것도 모르시는 분들을 대상으로 함</a:t>
            </a:r>
            <a:endParaRPr lang="en-US" altLang="ko-KR" dirty="0">
              <a:latin typeface="Liberation Serif" pitchFamily="18" charset="0"/>
              <a:cs typeface="Liberation Serif" pitchFamily="18" charset="0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CA2357-0992-46ED-803D-80E7A74122F8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1720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CA2357-0992-46ED-803D-80E7A74122F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18966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latin typeface="Liberation Serif" pitchFamily="18" charset="0"/>
              <a:cs typeface="Liberation Serif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CA2357-0992-46ED-803D-80E7A74122F8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90877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latin typeface="Liberation Serif" pitchFamily="18" charset="0"/>
              <a:cs typeface="Liberation Serif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CA2357-0992-46ED-803D-80E7A74122F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89937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latin typeface="Liberation Serif" pitchFamily="18" charset="0"/>
              <a:cs typeface="Liberation Serif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CA2357-0992-46ED-803D-80E7A74122F8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90840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CA2357-0992-46ED-803D-80E7A74122F8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17387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dirty="0">
                <a:latin typeface="Liberation Serif" charset="0"/>
                <a:ea typeface="Liberation Serif" charset="0"/>
                <a:cs typeface="Liberation Serif" charset="0"/>
              </a:rPr>
              <a:t>Crowd Detection &amp; Management, Incident Detection, Perimeter Intrusion Detection, Traffic &amp; Parking Management</a:t>
            </a:r>
          </a:p>
          <a:p>
            <a:endParaRPr kumimoji="1" lang="en-US" altLang="ko-KR" sz="1200" dirty="0">
              <a:latin typeface="Liberation Serif" charset="0"/>
              <a:ea typeface="Liberation Serif" charset="0"/>
              <a:cs typeface="Liberation Serif" charset="0"/>
            </a:endParaRPr>
          </a:p>
          <a:p>
            <a:r>
              <a:rPr lang="en-US" altLang="ko-KR" sz="1200" baseline="0" dirty="0">
                <a:latin typeface="Liberation Serif" charset="0"/>
                <a:ea typeface="Liberation Serif" charset="0"/>
                <a:cs typeface="Liberation Serif" charset="0"/>
              </a:rPr>
              <a:t>Facial Recognition &amp; Detection, Tracking and Motion in Video, Body Pose, Face, and Gesture Analysis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CA2357-0992-46ED-803D-80E7A74122F8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10240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Liberation Sans" pitchFamily="34" charset="0"/>
              <a:buChar char="•"/>
            </a:pPr>
            <a:r>
              <a:rPr lang="en-US" altLang="ko-KR" dirty="0">
                <a:latin typeface="Liberation Serif" pitchFamily="18" charset="0"/>
                <a:cs typeface="Liberation Serif" pitchFamily="18" charset="0"/>
              </a:rPr>
              <a:t> Zero base</a:t>
            </a:r>
            <a:r>
              <a:rPr lang="ko-KR" altLang="en-US" dirty="0">
                <a:latin typeface="Liberation Serif" pitchFamily="18" charset="0"/>
                <a:cs typeface="Liberation Serif" pitchFamily="18" charset="0"/>
              </a:rPr>
              <a:t>에서 뭔가를 얻어 가는 시간 짧은 시간이지만 직접 어떤 결과물을 얻어 보는게 가장 많은 도움이 될 것 같다</a:t>
            </a:r>
            <a:r>
              <a:rPr lang="en-US" altLang="ko-KR" dirty="0">
                <a:latin typeface="Liberation Serif" pitchFamily="18" charset="0"/>
                <a:cs typeface="Liberation Serif" pitchFamily="18" charset="0"/>
              </a:rPr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latin typeface="Liberation Serif" pitchFamily="18" charset="0"/>
                <a:cs typeface="Liberation Serif" pitchFamily="18" charset="0"/>
              </a:rPr>
              <a:t> 이미 </a:t>
            </a:r>
            <a:r>
              <a:rPr lang="en-US" altLang="ko-KR" dirty="0">
                <a:latin typeface="Liberation Serif" pitchFamily="18" charset="0"/>
                <a:cs typeface="Liberation Serif" pitchFamily="18" charset="0"/>
              </a:rPr>
              <a:t>Technical Background</a:t>
            </a:r>
            <a:r>
              <a:rPr lang="ko-KR" altLang="en-US" dirty="0">
                <a:latin typeface="Liberation Serif" pitchFamily="18" charset="0"/>
                <a:cs typeface="Liberation Serif" pitchFamily="18" charset="0"/>
              </a:rPr>
              <a:t>가 있으신 분들에게는 쉬운 내용일 수 있다</a:t>
            </a:r>
            <a:r>
              <a:rPr lang="en-US" altLang="ko-KR" dirty="0">
                <a:latin typeface="Liberation Serif" pitchFamily="18" charset="0"/>
                <a:cs typeface="Liberation Serif" pitchFamily="18" charset="0"/>
              </a:rPr>
              <a:t>.</a:t>
            </a:r>
            <a:r>
              <a:rPr lang="ko-KR" altLang="en-US" dirty="0">
                <a:latin typeface="Liberation Serif" pitchFamily="18" charset="0"/>
                <a:cs typeface="Liberation Serif" pitchFamily="18" charset="0"/>
              </a:rPr>
              <a:t> 기술적을 아무것도 모르시는 분들을 대상으로 함</a:t>
            </a:r>
            <a:endParaRPr lang="en-US" altLang="ko-KR" dirty="0">
              <a:latin typeface="Liberation Serif" pitchFamily="18" charset="0"/>
              <a:cs typeface="Liberation Serif" pitchFamily="18" charset="0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CA2357-0992-46ED-803D-80E7A74122F8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967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3282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fld id="{FA1A34C3-F8C9-4591-BE1C-D28C4C0893F6}" type="datetime1">
              <a:rPr lang="ko-KR" altLang="en-US" smtClean="0"/>
              <a:pPr/>
              <a:t>2026-04-01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fld id="{2B9805CF-A1BB-403B-B716-9385F32BA91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1854200" y="6426202"/>
            <a:ext cx="5410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altLang="ko-KR" sz="1200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Jongho</a:t>
            </a:r>
            <a:r>
              <a:rPr lang="da-DK" altLang="ko-KR" sz="1200" baseline="0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 Kim (</a:t>
            </a:r>
            <a:r>
              <a:rPr lang="da-DK" altLang="ko-KR" sz="1200" baseline="0" dirty="0" err="1">
                <a:latin typeface="Liberation Serif" panose="02020603050405020304" pitchFamily="18" charset="0"/>
                <a:cs typeface="Liberation Serif" panose="02020603050405020304" pitchFamily="18" charset="0"/>
              </a:rPr>
              <a:t>quantic.jh@gmail.com</a:t>
            </a:r>
            <a:r>
              <a:rPr lang="da-DK" altLang="ko-KR" sz="1200" baseline="0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)</a:t>
            </a:r>
            <a:endParaRPr lang="ko-KR" altLang="en-US" sz="12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pic>
        <p:nvPicPr>
          <p:cNvPr id="11" name="Picture 4" descr="http://img.incujector.com/upload/project/project65293_0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16" y="6065945"/>
            <a:ext cx="1082280" cy="747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5313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  <a:lvl2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2pPr>
            <a:lvl3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3pPr>
            <a:lvl4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4pPr>
            <a:lvl5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85E91-9024-4D87-92B9-83A81129C7D2}" type="datetime1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ko-KR" altLang="en-US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바닥글 개체 틀 1"/>
          <p:cNvSpPr txBox="1">
            <a:spLocks/>
          </p:cNvSpPr>
          <p:nvPr userDrawn="1"/>
        </p:nvSpPr>
        <p:spPr>
          <a:xfrm>
            <a:off x="2032000" y="6453336"/>
            <a:ext cx="557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854200" y="6426202"/>
            <a:ext cx="5410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altLang="ko-KR" sz="1200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Jongho</a:t>
            </a:r>
            <a:r>
              <a:rPr lang="da-DK" altLang="ko-KR" sz="1200" baseline="0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 Kim (</a:t>
            </a:r>
            <a:r>
              <a:rPr lang="da-DK" altLang="ko-KR" sz="1200" baseline="0" dirty="0" err="1">
                <a:latin typeface="Liberation Serif" panose="02020603050405020304" pitchFamily="18" charset="0"/>
                <a:cs typeface="Liberation Serif" panose="02020603050405020304" pitchFamily="18" charset="0"/>
              </a:rPr>
              <a:t>quantic.jh@gmail.com</a:t>
            </a:r>
            <a:r>
              <a:rPr lang="da-DK" altLang="ko-KR" sz="1200" baseline="0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)</a:t>
            </a:r>
            <a:endParaRPr lang="ko-KR" altLang="en-US" sz="12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pic>
        <p:nvPicPr>
          <p:cNvPr id="12" name="Picture 4" descr="http://img.incujector.com/upload/project/project65293_0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16" y="6065945"/>
            <a:ext cx="1082280" cy="747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35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fld id="{570C1E5E-8BFE-4E18-8083-E0D4A25AA34A}" type="datetime1">
              <a:rPr lang="ko-KR" altLang="en-US" smtClean="0"/>
              <a:pPr/>
              <a:t>2026-04-01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fld id="{2B9805CF-A1BB-403B-B716-9385F32BA91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5861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73A16-2ED4-4195-BFB1-1276CB5AFB92}" type="datetime1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090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A459-E99E-4D1B-82DC-E473DF187DD5}" type="datetime1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8172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0593B-247B-4BBF-97D4-61F6106A9158}" type="datetime1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7097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fld id="{32513548-F093-49F5-8517-C9434CD0DB32}" type="datetime1">
              <a:rPr lang="ko-KR" altLang="en-US" smtClean="0"/>
              <a:pPr/>
              <a:t>2026-04-01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fld id="{2B9805CF-A1BB-403B-B716-9385F32BA91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4167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B121-40C8-43C4-BF9D-A7A65A074920}" type="datetime1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693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22092-D82B-4F3C-8DD1-5440BBC71CF7}" type="datetime1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9329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CA81A-6B3D-43C6-A3F0-46B6A4C7DF9B}" type="datetime1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7507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ED7BF-6143-4204-8B36-C148EBB97875}" type="datetime1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7591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A94D3-974E-418C-8C29-54198149C10E}" type="datetime1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805CF-A1BB-403B-B716-9385F32BA9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6102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Liberation Sans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Liberation Sans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Liberation Sans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Liberation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Liberation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Liberation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Liberation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Liberation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Liberation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floq.com/read/what-is-video-analytics-why-becoming-big-player/2312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alliedmarketresearch.com/video-analytics-market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251520" y="332656"/>
            <a:ext cx="6408712" cy="477995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1</a:t>
            </a:fld>
            <a:endParaRPr lang="ko-KR" altLang="en-US" dirty="0"/>
          </a:p>
        </p:txBody>
      </p:sp>
      <p:sp>
        <p:nvSpPr>
          <p:cNvPr id="6" name="부제목 2"/>
          <p:cNvSpPr>
            <a:spLocks noGrp="1"/>
          </p:cNvSpPr>
          <p:nvPr>
            <p:ph type="subTitle" idx="1"/>
          </p:nvPr>
        </p:nvSpPr>
        <p:spPr>
          <a:xfrm>
            <a:off x="323528" y="3238500"/>
            <a:ext cx="6192688" cy="1448668"/>
          </a:xfrm>
        </p:spPr>
        <p:txBody>
          <a:bodyPr>
            <a:noAutofit/>
          </a:bodyPr>
          <a:lstStyle/>
          <a:p>
            <a:pPr algn="r"/>
            <a:endParaRPr lang="en-US" altLang="ko-KR" sz="1800" spc="-30" dirty="0">
              <a:solidFill>
                <a:schemeClr val="bg1"/>
              </a:solidFill>
              <a:latin typeface="Liberation Serif" charset="0"/>
              <a:ea typeface="Liberation Serif" charset="0"/>
              <a:cs typeface="Liberation Serif" charset="0"/>
            </a:endParaRPr>
          </a:p>
          <a:p>
            <a:pPr algn="r"/>
            <a:r>
              <a:rPr lang="en-US" altLang="ko-KR" sz="1800" spc="-30" dirty="0">
                <a:solidFill>
                  <a:schemeClr val="bg1"/>
                </a:solidFill>
                <a:latin typeface="Liberation Serif" charset="0"/>
                <a:ea typeface="Liberation Serif" charset="0"/>
                <a:cs typeface="Liberation Serif" charset="0"/>
              </a:rPr>
              <a:t>Jongho Kim</a:t>
            </a:r>
            <a:endParaRPr lang="ko-KR" altLang="en-US" sz="1800" spc="-30" dirty="0">
              <a:solidFill>
                <a:schemeClr val="bg1"/>
              </a:solidFill>
              <a:latin typeface="Liberation Serif" charset="0"/>
              <a:ea typeface="Liberation Serif" charset="0"/>
              <a:cs typeface="Liberation Serif" charset="0"/>
            </a:endParaRPr>
          </a:p>
          <a:p>
            <a:pPr algn="r"/>
            <a:r>
              <a:rPr lang="en-US" altLang="ko-KR" sz="1800" spc="-30" dirty="0">
                <a:solidFill>
                  <a:schemeClr val="bg1"/>
                </a:solidFill>
                <a:latin typeface="Liberation Serif" charset="0"/>
                <a:ea typeface="Liberation Serif" charset="0"/>
                <a:cs typeface="Liberation Serif" charset="0"/>
              </a:rPr>
              <a:t>December &amp; Company Inc.</a:t>
            </a:r>
          </a:p>
          <a:p>
            <a:pPr algn="r"/>
            <a:r>
              <a:rPr lang="en-US" altLang="ko-KR" sz="1800" spc="-30" dirty="0">
                <a:solidFill>
                  <a:schemeClr val="bg1"/>
                </a:solidFill>
                <a:latin typeface="Liberation Serif" charset="0"/>
                <a:ea typeface="Liberation Serif" charset="0"/>
                <a:cs typeface="Liberation Serif" charset="0"/>
              </a:rPr>
              <a:t>Spring, 2019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872" y="404664"/>
            <a:ext cx="6408712" cy="31547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dirty="0">
                <a:solidFill>
                  <a:schemeClr val="bg1"/>
                </a:solidFill>
                <a:latin typeface="Liberation Serif" charset="0"/>
                <a:ea typeface="Liberation Serif" charset="0"/>
                <a:cs typeface="Liberation Serif" charset="0"/>
              </a:rPr>
              <a:t>Business Analytics</a:t>
            </a:r>
            <a:r>
              <a:rPr lang="ko-KR" altLang="en-US" sz="1500" dirty="0">
                <a:solidFill>
                  <a:schemeClr val="bg1"/>
                </a:solidFill>
                <a:latin typeface="Liberation Serif" charset="0"/>
                <a:ea typeface="Liberation Serif" charset="0"/>
                <a:cs typeface="Liberation Serif" charset="0"/>
              </a:rPr>
              <a:t> </a:t>
            </a:r>
            <a:r>
              <a:rPr lang="en-US" altLang="ko-KR" sz="1500" dirty="0">
                <a:solidFill>
                  <a:schemeClr val="bg1"/>
                </a:solidFill>
                <a:latin typeface="Liberation Serif" charset="0"/>
                <a:ea typeface="Liberation Serif" charset="0"/>
                <a:cs typeface="Liberation Serif" charset="0"/>
              </a:rPr>
              <a:t>(IM561)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solidFill>
                <a:schemeClr val="bg1"/>
              </a:solidFill>
              <a:latin typeface="Liberation Serif" charset="0"/>
              <a:ea typeface="Liberation Serif" charset="0"/>
              <a:cs typeface="Liberation Serif" charset="0"/>
            </a:endParaRPr>
          </a:p>
          <a:p>
            <a:pPr>
              <a:lnSpc>
                <a:spcPct val="150000"/>
              </a:lnSpc>
            </a:pPr>
            <a:endParaRPr lang="en-US" altLang="ko-KR" sz="1000" spc="-150" dirty="0">
              <a:solidFill>
                <a:schemeClr val="bg1"/>
              </a:solidFill>
              <a:latin typeface="Liberation Serif" charset="0"/>
              <a:ea typeface="Liberation Serif" charset="0"/>
              <a:cs typeface="Liberation Serif" charset="0"/>
            </a:endParaRPr>
          </a:p>
          <a:p>
            <a:pPr>
              <a:lnSpc>
                <a:spcPct val="150000"/>
              </a:lnSpc>
            </a:pPr>
            <a:endParaRPr lang="en-US" altLang="ko-KR" sz="1000" spc="-150" dirty="0">
              <a:solidFill>
                <a:schemeClr val="bg1"/>
              </a:solidFill>
              <a:latin typeface="Liberation Serif" charset="0"/>
              <a:ea typeface="Liberation Serif" charset="0"/>
              <a:cs typeface="Liberation Serif" charset="0"/>
            </a:endParaRPr>
          </a:p>
          <a:p>
            <a:pPr>
              <a:lnSpc>
                <a:spcPct val="150000"/>
              </a:lnSpc>
            </a:pPr>
            <a:endParaRPr lang="en-US" altLang="ko-KR" sz="1000" spc="-150" dirty="0">
              <a:solidFill>
                <a:schemeClr val="bg1"/>
              </a:solidFill>
              <a:latin typeface="Liberation Serif" charset="0"/>
              <a:ea typeface="Liberation Serif" charset="0"/>
              <a:cs typeface="Liberation Serif" charset="0"/>
            </a:endParaRPr>
          </a:p>
          <a:p>
            <a:pPr algn="r">
              <a:lnSpc>
                <a:spcPct val="150000"/>
              </a:lnSpc>
            </a:pPr>
            <a:r>
              <a:rPr lang="en-US" altLang="ko-KR" sz="2000" dirty="0">
                <a:solidFill>
                  <a:schemeClr val="bg1"/>
                </a:solidFill>
                <a:latin typeface="Liberation Serif" charset="0"/>
                <a:ea typeface="Liberation Serif" charset="0"/>
                <a:cs typeface="Liberation Serif" charset="0"/>
              </a:rPr>
              <a:t>Video Analytics with Deep Learning: Methods and Applications</a:t>
            </a:r>
          </a:p>
          <a:p>
            <a:pPr algn="r">
              <a:lnSpc>
                <a:spcPct val="150000"/>
              </a:lnSpc>
            </a:pPr>
            <a:endParaRPr lang="en-US" altLang="ko-KR" sz="500" b="1" dirty="0">
              <a:solidFill>
                <a:schemeClr val="bg1"/>
              </a:solidFill>
              <a:latin typeface="Liberation Serif" charset="0"/>
              <a:ea typeface="Liberation Serif" charset="0"/>
              <a:cs typeface="Liberation Serif" charset="0"/>
            </a:endParaRPr>
          </a:p>
          <a:p>
            <a:pPr algn="r"/>
            <a:r>
              <a:rPr lang="en-US" altLang="ko-KR" sz="3200" dirty="0">
                <a:solidFill>
                  <a:schemeClr val="bg1"/>
                </a:solidFill>
                <a:latin typeface="Liberation Serif" charset="0"/>
                <a:ea typeface="Liberation Serif" charset="0"/>
                <a:cs typeface="Liberation Serif" charset="0"/>
              </a:rPr>
              <a:t>Intelligent Video Analytics </a:t>
            </a:r>
          </a:p>
          <a:p>
            <a:pPr algn="r"/>
            <a:r>
              <a:rPr lang="en-US" altLang="ko-KR" sz="3200" dirty="0">
                <a:solidFill>
                  <a:schemeClr val="bg1"/>
                </a:solidFill>
                <a:latin typeface="Liberation Serif" charset="0"/>
                <a:ea typeface="Liberation Serif" charset="0"/>
                <a:cs typeface="Liberation Serif" charset="0"/>
              </a:rPr>
              <a:t>with Deep Learning</a:t>
            </a:r>
          </a:p>
        </p:txBody>
      </p:sp>
    </p:spTree>
    <p:extLst>
      <p:ext uri="{BB962C8B-B14F-4D97-AF65-F5344CB8AC3E}">
        <p14:creationId xmlns:p14="http://schemas.microsoft.com/office/powerpoint/2010/main" val="3323904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2</a:t>
            </a:fld>
            <a:endParaRPr lang="ko-KR" altLang="en-US"/>
          </a:p>
        </p:txBody>
      </p:sp>
      <p:cxnSp>
        <p:nvCxnSpPr>
          <p:cNvPr id="5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467544" y="144085"/>
            <a:ext cx="8219256" cy="7018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b="1" dirty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Intelligent Video Analytics with Deep Learning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404328" y="1221708"/>
            <a:ext cx="829126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Liberation Sans" pitchFamily="34" charset="0"/>
              <a:buChar char="•"/>
            </a:pPr>
            <a:r>
              <a:rPr lang="en-US" altLang="ko-KR" sz="2000" dirty="0">
                <a:latin typeface="Liberation Serif" pitchFamily="18" charset="0"/>
                <a:cs typeface="Liberation Serif" pitchFamily="18" charset="0"/>
              </a:rPr>
              <a:t> (Subtitle) “Video Analytics with Deep Learning: Methods and Applications”</a:t>
            </a:r>
          </a:p>
        </p:txBody>
      </p:sp>
    </p:spTree>
    <p:extLst>
      <p:ext uri="{BB962C8B-B14F-4D97-AF65-F5344CB8AC3E}">
        <p14:creationId xmlns:p14="http://schemas.microsoft.com/office/powerpoint/2010/main" val="1133062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3</a:t>
            </a:fld>
            <a:endParaRPr lang="ko-KR" altLang="en-US"/>
          </a:p>
        </p:txBody>
      </p:sp>
      <p:cxnSp>
        <p:nvCxnSpPr>
          <p:cNvPr id="5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467544" y="144085"/>
            <a:ext cx="8219256" cy="7018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b="1" dirty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Goals of This Session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350217" y="1273944"/>
            <a:ext cx="8673861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Liberation Sans" pitchFamily="34" charset="0"/>
              <a:buChar char="•"/>
            </a:pPr>
            <a:r>
              <a:rPr lang="en-US" altLang="ko-KR" sz="2000" dirty="0">
                <a:latin typeface="Liberation Serif" pitchFamily="18" charset="0"/>
                <a:cs typeface="Liberation Serif" pitchFamily="18" charset="0"/>
              </a:rPr>
              <a:t> Video Analytics with Deep Learning: Methods and Applications</a:t>
            </a:r>
          </a:p>
          <a:p>
            <a:pPr>
              <a:buFont typeface="Liberation Sans" pitchFamily="34" charset="0"/>
              <a:buChar char="•"/>
            </a:pPr>
            <a:endParaRPr lang="en-US" altLang="ko-KR" sz="2000" dirty="0">
              <a:latin typeface="Liberation Serif" pitchFamily="18" charset="0"/>
              <a:cs typeface="Liberation Serif" pitchFamily="18" charset="0"/>
            </a:endParaRPr>
          </a:p>
          <a:p>
            <a:pPr>
              <a:buFont typeface="Liberation Sans" pitchFamily="34" charset="0"/>
              <a:buChar char="•"/>
            </a:pPr>
            <a:endParaRPr lang="en-US" altLang="ko-KR" sz="2000" dirty="0">
              <a:latin typeface="Liberation Serif" pitchFamily="18" charset="0"/>
              <a:cs typeface="Liberation Serif" pitchFamily="18" charset="0"/>
            </a:endParaRPr>
          </a:p>
          <a:p>
            <a:pPr>
              <a:buFont typeface="Liberation Sans" pitchFamily="34" charset="0"/>
              <a:buChar char="•"/>
            </a:pPr>
            <a:endParaRPr lang="en-US" altLang="ko-KR" sz="2000" dirty="0">
              <a:latin typeface="Liberation Serif" pitchFamily="18" charset="0"/>
              <a:cs typeface="Liberation Serif" pitchFamily="18" charset="0"/>
            </a:endParaRPr>
          </a:p>
          <a:p>
            <a:pPr lvl="1">
              <a:buFont typeface="Liberation Sans" pitchFamily="34" charset="0"/>
              <a:buChar char="•"/>
            </a:pPr>
            <a:r>
              <a:rPr lang="ko-KR" altLang="en-US" sz="2000" dirty="0">
                <a:latin typeface="Liberation Serif" pitchFamily="18" charset="0"/>
                <a:cs typeface="Liberation Serif" pitchFamily="18" charset="0"/>
              </a:rPr>
              <a:t> </a:t>
            </a:r>
            <a:r>
              <a:rPr lang="en-US" altLang="ko-KR" sz="2000" dirty="0">
                <a:latin typeface="Liberation Serif" charset="0"/>
                <a:ea typeface="Liberation Serif" charset="0"/>
                <a:cs typeface="Liberation Serif" charset="0"/>
              </a:rPr>
              <a:t>There is no prerequisite related with programming skills for this session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550944" y="1320729"/>
            <a:ext cx="3779896" cy="3121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" name="아래쪽 화살표[D] 1"/>
          <p:cNvSpPr/>
          <p:nvPr/>
        </p:nvSpPr>
        <p:spPr>
          <a:xfrm>
            <a:off x="1404256" y="1861454"/>
            <a:ext cx="342900" cy="604157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404328" y="1319682"/>
            <a:ext cx="829126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Liberation Sans" pitchFamily="34" charset="0"/>
              <a:buChar char="•"/>
            </a:pPr>
            <a:endParaRPr lang="en-US" altLang="ko-KR" sz="2000" dirty="0">
              <a:latin typeface="Liberation Serif" pitchFamily="18" charset="0"/>
              <a:cs typeface="Liberation Serif" pitchFamily="18" charset="0"/>
            </a:endParaRPr>
          </a:p>
          <a:p>
            <a:pPr>
              <a:buFont typeface="Liberation Sans" pitchFamily="34" charset="0"/>
              <a:buChar char="•"/>
            </a:pPr>
            <a:endParaRPr lang="en-US" altLang="ko-KR" sz="2000" dirty="0">
              <a:latin typeface="Liberation Serif" pitchFamily="18" charset="0"/>
              <a:cs typeface="Liberation Serif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466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4</a:t>
            </a:fld>
            <a:endParaRPr lang="ko-KR" altLang="en-US"/>
          </a:p>
        </p:txBody>
      </p:sp>
      <p:cxnSp>
        <p:nvCxnSpPr>
          <p:cNvPr id="5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467544" y="144085"/>
            <a:ext cx="8219256" cy="7018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b="1" dirty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Goals of This Session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350217" y="1290276"/>
            <a:ext cx="8673861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Liberation Sans" pitchFamily="34" charset="0"/>
              <a:buChar char="•"/>
            </a:pPr>
            <a:r>
              <a:rPr lang="en-US" altLang="ko-KR" sz="2000" dirty="0">
                <a:latin typeface="Liberation Serif" pitchFamily="18" charset="0"/>
                <a:cs typeface="Liberation Serif" pitchFamily="18" charset="0"/>
              </a:rPr>
              <a:t> Video Analytics with Deep Learning: Methods and Applications</a:t>
            </a:r>
          </a:p>
          <a:p>
            <a:pPr>
              <a:buFont typeface="Liberation Sans" pitchFamily="34" charset="0"/>
              <a:buChar char="•"/>
            </a:pPr>
            <a:endParaRPr lang="en-US" altLang="ko-KR" sz="2000" dirty="0">
              <a:latin typeface="Liberation Serif" pitchFamily="18" charset="0"/>
              <a:cs typeface="Liberation Serif" pitchFamily="18" charset="0"/>
            </a:endParaRPr>
          </a:p>
          <a:p>
            <a:pPr>
              <a:buFont typeface="Liberation Sans" pitchFamily="34" charset="0"/>
              <a:buChar char="•"/>
            </a:pPr>
            <a:endParaRPr lang="en-US" altLang="ko-KR" sz="2000" dirty="0">
              <a:latin typeface="Liberation Serif" pitchFamily="18" charset="0"/>
              <a:cs typeface="Liberation Serif" pitchFamily="18" charset="0"/>
            </a:endParaRPr>
          </a:p>
          <a:p>
            <a:pPr>
              <a:buFont typeface="Liberation Sans" pitchFamily="34" charset="0"/>
              <a:buChar char="•"/>
            </a:pPr>
            <a:endParaRPr lang="en-US" altLang="ko-KR" sz="2000" dirty="0">
              <a:latin typeface="Liberation Serif" pitchFamily="18" charset="0"/>
              <a:cs typeface="Liberation Serif" pitchFamily="18" charset="0"/>
            </a:endParaRPr>
          </a:p>
          <a:p>
            <a:pPr lvl="1">
              <a:buFont typeface="Liberation Sans" pitchFamily="34" charset="0"/>
              <a:buChar char="•"/>
            </a:pPr>
            <a:r>
              <a:rPr lang="ko-KR" altLang="en-US" sz="2000" dirty="0">
                <a:solidFill>
                  <a:schemeClr val="bg1">
                    <a:lumMod val="65000"/>
                  </a:schemeClr>
                </a:solidFill>
                <a:latin typeface="Liberation Serif" pitchFamily="18" charset="0"/>
                <a:cs typeface="Liberation Serif" pitchFamily="18" charset="0"/>
              </a:rPr>
              <a:t> </a:t>
            </a:r>
            <a:r>
              <a:rPr lang="en-US" altLang="ko-KR" sz="2000" dirty="0">
                <a:solidFill>
                  <a:schemeClr val="bg1">
                    <a:lumMod val="65000"/>
                  </a:schemeClr>
                </a:solidFill>
                <a:latin typeface="Liberation Serif" charset="0"/>
                <a:ea typeface="Liberation Serif" charset="0"/>
                <a:cs typeface="Liberation Serif" charset="0"/>
              </a:rPr>
              <a:t>There is no prerequisite related with programming skills for this session. </a:t>
            </a:r>
          </a:p>
          <a:p>
            <a:pPr lvl="1">
              <a:buFont typeface="Liberation Sans" pitchFamily="34" charset="0"/>
              <a:buChar char="•"/>
            </a:pPr>
            <a:endParaRPr lang="en-US" altLang="ko-KR" sz="2000" dirty="0">
              <a:latin typeface="Liberation Serif" pitchFamily="18" charset="0"/>
              <a:cs typeface="Liberation Serif" pitchFamily="18" charset="0"/>
            </a:endParaRPr>
          </a:p>
          <a:p>
            <a:pPr lvl="1">
              <a:buFont typeface="Liberation Sans" pitchFamily="34" charset="0"/>
              <a:buChar char="•"/>
            </a:pPr>
            <a:endParaRPr lang="en-US" altLang="ko-KR" sz="2000" dirty="0">
              <a:latin typeface="Liberation Serif" pitchFamily="18" charset="0"/>
              <a:cs typeface="Liberation Serif" pitchFamily="18" charset="0"/>
            </a:endParaRPr>
          </a:p>
          <a:p>
            <a:pPr lvl="5">
              <a:buFont typeface="Liberation Sans" pitchFamily="34" charset="0"/>
              <a:buChar char="•"/>
            </a:pPr>
            <a:r>
              <a:rPr lang="ko-KR" altLang="en-US" sz="2000" dirty="0">
                <a:latin typeface="Liberation Serif" pitchFamily="18" charset="0"/>
                <a:cs typeface="Liberation Serif" pitchFamily="18" charset="0"/>
              </a:rPr>
              <a:t> </a:t>
            </a:r>
            <a:r>
              <a:rPr lang="en-US" altLang="ko-KR" sz="2000" dirty="0">
                <a:latin typeface="Liberation Serif" pitchFamily="18" charset="0"/>
                <a:cs typeface="Liberation Serif" pitchFamily="18" charset="0"/>
              </a:rPr>
              <a:t>Make</a:t>
            </a:r>
            <a:r>
              <a:rPr lang="ko-KR" altLang="en-US" sz="2000" dirty="0">
                <a:latin typeface="Liberation Serif" pitchFamily="18" charset="0"/>
                <a:cs typeface="Liberation Serif" pitchFamily="18" charset="0"/>
              </a:rPr>
              <a:t> </a:t>
            </a:r>
            <a:r>
              <a:rPr lang="en-US" altLang="ko-KR" sz="2000" dirty="0">
                <a:latin typeface="Liberation Serif" pitchFamily="18" charset="0"/>
                <a:cs typeface="Liberation Serif" pitchFamily="18" charset="0"/>
              </a:rPr>
              <a:t>it possible for you to analyze your own video data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4391131" y="1353387"/>
            <a:ext cx="2753248" cy="3284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아래쪽 화살표[D] 8"/>
          <p:cNvSpPr/>
          <p:nvPr/>
        </p:nvSpPr>
        <p:spPr>
          <a:xfrm>
            <a:off x="4683484" y="1884884"/>
            <a:ext cx="394697" cy="1495130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76716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404328" y="1277294"/>
            <a:ext cx="867386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Liberation Sans" pitchFamily="34" charset="0"/>
              <a:buChar char="•"/>
            </a:pPr>
            <a:r>
              <a:rPr lang="en-US" altLang="ko-KR" sz="2000" dirty="0">
                <a:latin typeface="Liberation Serif" pitchFamily="18" charset="0"/>
                <a:cs typeface="Liberation Serif" pitchFamily="18" charset="0"/>
              </a:rPr>
              <a:t> Video Analytics is really the study of video data</a:t>
            </a:r>
          </a:p>
          <a:p>
            <a:pPr>
              <a:buFont typeface="Liberation Sans" pitchFamily="34" charset="0"/>
              <a:buChar char="•"/>
            </a:pPr>
            <a:endParaRPr lang="en-US" altLang="ko-KR" sz="2000" dirty="0">
              <a:latin typeface="Liberation Serif" pitchFamily="18" charset="0"/>
              <a:cs typeface="Liberation Serif" pitchFamily="18" charset="0"/>
            </a:endParaRPr>
          </a:p>
          <a:p>
            <a:pPr>
              <a:buFont typeface="Liberation Sans" pitchFamily="34" charset="0"/>
              <a:buChar char="•"/>
            </a:pPr>
            <a:r>
              <a:rPr lang="en-US" altLang="ko-KR" sz="2000" dirty="0">
                <a:latin typeface="Liberation Serif" pitchFamily="18" charset="0"/>
                <a:cs typeface="Liberation Serif" pitchFamily="18" charset="0"/>
              </a:rPr>
              <a:t> The amount of video data in our world has exploded to a ridiculous degree</a:t>
            </a:r>
          </a:p>
          <a:p>
            <a:pPr>
              <a:buFont typeface="Liberation Sans" pitchFamily="34" charset="0"/>
              <a:buChar char="•"/>
            </a:pPr>
            <a:endParaRPr lang="en-US" altLang="ko-KR" sz="2000" dirty="0">
              <a:latin typeface="Liberation Serif" pitchFamily="18" charset="0"/>
              <a:cs typeface="Liberation Serif" pitchFamily="18" charset="0"/>
            </a:endParaRPr>
          </a:p>
          <a:p>
            <a:pPr lvl="1">
              <a:buFont typeface="Liberation Sans" pitchFamily="34" charset="0"/>
              <a:buChar char="•"/>
            </a:pPr>
            <a:r>
              <a:rPr lang="en-US" altLang="ko-KR" sz="2000" dirty="0">
                <a:latin typeface="Liberation Serif" pitchFamily="18" charset="0"/>
                <a:cs typeface="Liberation Serif" pitchFamily="18" charset="0"/>
              </a:rPr>
              <a:t> 82% of all Internet traffic would be video by 2022 (CISCO, 2018)</a:t>
            </a:r>
          </a:p>
          <a:p>
            <a:pPr lvl="1">
              <a:buFont typeface="Liberation Sans" pitchFamily="34" charset="0"/>
              <a:buChar char="•"/>
            </a:pPr>
            <a:r>
              <a:rPr lang="en-US" altLang="ko-KR" sz="2000" dirty="0">
                <a:latin typeface="Liberation Serif" pitchFamily="18" charset="0"/>
                <a:cs typeface="Liberation Serif" pitchFamily="18" charset="0"/>
              </a:rPr>
              <a:t> The majority of bits flying around the Internet are actually video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5</a:t>
            </a:fld>
            <a:endParaRPr lang="ko-KR" altLang="en-US"/>
          </a:p>
        </p:txBody>
      </p:sp>
      <p:cxnSp>
        <p:nvCxnSpPr>
          <p:cNvPr id="5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467544" y="144085"/>
            <a:ext cx="8219256" cy="7018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b="1" dirty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What is Video Analytics?</a:t>
            </a:r>
          </a:p>
        </p:txBody>
      </p:sp>
      <p:pic>
        <p:nvPicPr>
          <p:cNvPr id="15" name="Picture 2" descr="outubeì ëí ì´ë¯¸ì§ ê²ìê²°ê³¼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788" y="3428559"/>
            <a:ext cx="2321707" cy="2321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acebookì ëí ì´ë¯¸ì§ ê²ìê²°ê³¼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8495" y="4155838"/>
            <a:ext cx="2706696" cy="1017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4" descr="nstagramì ëí ì´ë¯¸ì§ ê²ìê²°ê³¼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6645" y="4065884"/>
            <a:ext cx="2420732" cy="119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93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6</a:t>
            </a:fld>
            <a:endParaRPr lang="ko-KR" altLang="en-US"/>
          </a:p>
        </p:txBody>
      </p:sp>
      <p:cxnSp>
        <p:nvCxnSpPr>
          <p:cNvPr id="5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467544" y="144085"/>
            <a:ext cx="8219256" cy="7018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b="1" dirty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Why is it Difficult to Analyze Video Data?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404328" y="1237328"/>
            <a:ext cx="828247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Liberation Sans" pitchFamily="34" charset="0"/>
              <a:buChar char="•"/>
            </a:pPr>
            <a:r>
              <a:rPr lang="en-US" altLang="ko-KR" sz="2000" dirty="0">
                <a:latin typeface="Liberation Serif" pitchFamily="18" charset="0"/>
                <a:cs typeface="Liberation Serif" pitchFamily="18" charset="0"/>
              </a:rPr>
              <a:t> However, there’s a problem with video data that it’s really hard to understand</a:t>
            </a:r>
          </a:p>
          <a:p>
            <a:pPr marL="0" lvl="1">
              <a:buFont typeface="Liberation Sans" pitchFamily="34" charset="0"/>
              <a:buChar char="•"/>
            </a:pPr>
            <a:endParaRPr lang="en-US" altLang="ko-KR" sz="2000" dirty="0">
              <a:latin typeface="Liberation Serif" pitchFamily="18" charset="0"/>
              <a:cs typeface="Liberation Serif" pitchFamily="18" charset="0"/>
            </a:endParaRPr>
          </a:p>
          <a:p>
            <a:pPr marL="457200" lvl="2">
              <a:buFont typeface="Liberation Sans" pitchFamily="34" charset="0"/>
              <a:buChar char="•"/>
            </a:pPr>
            <a:r>
              <a:rPr lang="en-US" altLang="ko-KR" sz="2000" dirty="0">
                <a:latin typeface="Liberation Serif" pitchFamily="18" charset="0"/>
                <a:cs typeface="Liberation Serif" pitchFamily="18" charset="0"/>
              </a:rPr>
              <a:t> Video has multiple modalities with the usage of audio, visual and (possibly) textual data</a:t>
            </a:r>
          </a:p>
          <a:p>
            <a:pPr marL="457200" lvl="2">
              <a:buFont typeface="Liberation Sans" pitchFamily="34" charset="0"/>
              <a:buChar char="•"/>
            </a:pPr>
            <a:endParaRPr lang="en-US" altLang="ko-KR" sz="2000" dirty="0">
              <a:latin typeface="Liberation Serif" pitchFamily="18" charset="0"/>
              <a:cs typeface="Liberation Serif" pitchFamily="18" charset="0"/>
            </a:endParaRPr>
          </a:p>
          <a:p>
            <a:pPr marL="457200" lvl="2">
              <a:buFont typeface="Liberation Sans" pitchFamily="34" charset="0"/>
              <a:buChar char="•"/>
            </a:pPr>
            <a:r>
              <a:rPr lang="en-US" altLang="ko-KR" sz="2000" dirty="0">
                <a:latin typeface="Liberation Serif" pitchFamily="18" charset="0"/>
                <a:cs typeface="Liberation Serif" pitchFamily="18" charset="0"/>
              </a:rPr>
              <a:t> A few of Problems: Semantic Gap, Deformation, Illumination, Occlusion, Intra-class Variation, Cocktail Party Effect, </a:t>
            </a:r>
            <a:r>
              <a:rPr lang="en-US" altLang="ko-KR" sz="2000" dirty="0" err="1">
                <a:latin typeface="Liberation Serif" pitchFamily="18" charset="0"/>
                <a:cs typeface="Liberation Serif" pitchFamily="18" charset="0"/>
              </a:rPr>
              <a:t>etc</a:t>
            </a:r>
            <a:endParaRPr lang="en-US" altLang="ko-KR" sz="2000" dirty="0">
              <a:latin typeface="Liberation Serif" pitchFamily="18" charset="0"/>
              <a:cs typeface="Liberation Serif" pitchFamily="18" charset="0"/>
            </a:endParaRPr>
          </a:p>
          <a:p>
            <a:pPr marL="457200" lvl="2">
              <a:buFont typeface="Liberation Sans" pitchFamily="34" charset="0"/>
              <a:buChar char="•"/>
            </a:pPr>
            <a:endParaRPr lang="en-US" altLang="ko-KR" sz="2000" dirty="0">
              <a:latin typeface="Liberation Serif" pitchFamily="18" charset="0"/>
              <a:cs typeface="Liberation Serif" pitchFamily="18" charset="0"/>
            </a:endParaRPr>
          </a:p>
          <a:p>
            <a:pPr marL="457200" lvl="2">
              <a:buFont typeface="Liberation Sans" pitchFamily="34" charset="0"/>
              <a:buChar char="•"/>
            </a:pPr>
            <a:endParaRPr lang="en-US" altLang="ko-KR" sz="2000" dirty="0">
              <a:latin typeface="Liberation Serif" pitchFamily="18" charset="0"/>
              <a:cs typeface="Liberation Serif" pitchFamily="18" charset="0"/>
            </a:endParaRPr>
          </a:p>
          <a:p>
            <a:pPr marL="457200" lvl="2">
              <a:buFont typeface="Liberation Sans" pitchFamily="34" charset="0"/>
              <a:buChar char="•"/>
            </a:pPr>
            <a:endParaRPr lang="en-US" altLang="ko-KR" sz="2000" dirty="0">
              <a:latin typeface="Liberation Serif" pitchFamily="18" charset="0"/>
              <a:cs typeface="Liberation Serif" pitchFamily="18" charset="0"/>
            </a:endParaRPr>
          </a:p>
          <a:p>
            <a:pPr marL="457200" lvl="2">
              <a:buFont typeface="Liberation Sans" pitchFamily="34" charset="0"/>
              <a:buChar char="•"/>
            </a:pPr>
            <a:endParaRPr lang="en-US" altLang="ko-KR" sz="2000" dirty="0">
              <a:latin typeface="Liberation Serif" pitchFamily="18" charset="0"/>
              <a:cs typeface="Liberation Serif" pitchFamily="18" charset="0"/>
            </a:endParaRPr>
          </a:p>
          <a:p>
            <a:pPr marL="457200" lvl="2">
              <a:buFont typeface="Liberation Sans" pitchFamily="34" charset="0"/>
              <a:buChar char="•"/>
            </a:pPr>
            <a:endParaRPr lang="en-US" altLang="ko-KR" sz="2000" dirty="0">
              <a:latin typeface="Liberation Serif" pitchFamily="18" charset="0"/>
              <a:cs typeface="Liberation Serif" pitchFamily="18" charset="0"/>
            </a:endParaRPr>
          </a:p>
          <a:p>
            <a:pPr marL="457200" lvl="2">
              <a:buFont typeface="Liberation Sans" pitchFamily="34" charset="0"/>
              <a:buChar char="•"/>
            </a:pPr>
            <a:endParaRPr lang="en-US" altLang="ko-KR" sz="2000" dirty="0">
              <a:latin typeface="Liberation Serif" pitchFamily="18" charset="0"/>
              <a:cs typeface="Liberation Serif" pitchFamily="18" charset="0"/>
            </a:endParaRPr>
          </a:p>
          <a:p>
            <a:pPr marL="457200" lvl="2">
              <a:buFont typeface="Liberation Sans" pitchFamily="34" charset="0"/>
              <a:buChar char="•"/>
            </a:pPr>
            <a:endParaRPr lang="en-US" altLang="ko-KR" sz="2000" dirty="0">
              <a:latin typeface="Liberation Serif" pitchFamily="18" charset="0"/>
              <a:cs typeface="Liberation Serif" pitchFamily="18" charset="0"/>
            </a:endParaRPr>
          </a:p>
          <a:p>
            <a:pPr marL="457200" lvl="2">
              <a:buFont typeface="Liberation Sans" pitchFamily="34" charset="0"/>
              <a:buChar char="•"/>
            </a:pPr>
            <a:endParaRPr lang="en-US" altLang="ko-KR" sz="2000" dirty="0">
              <a:latin typeface="Liberation Serif" pitchFamily="18" charset="0"/>
              <a:cs typeface="Liberation Serif" pitchFamily="18" charset="0"/>
            </a:endParaRPr>
          </a:p>
          <a:p>
            <a:pPr marL="457200" lvl="2">
              <a:buFont typeface="Liberation Sans" pitchFamily="34" charset="0"/>
              <a:buChar char="•"/>
            </a:pPr>
            <a:endParaRPr lang="en-US" altLang="ko-KR" sz="2000" dirty="0">
              <a:latin typeface="Liberation Serif" pitchFamily="18" charset="0"/>
              <a:cs typeface="Liberation Serif" pitchFamily="18" charset="0"/>
            </a:endParaRPr>
          </a:p>
          <a:p>
            <a:pPr marL="457200" lvl="2">
              <a:buFont typeface="Liberation Sans" pitchFamily="34" charset="0"/>
              <a:buChar char="•"/>
            </a:pPr>
            <a:endParaRPr lang="en-US" altLang="ko-KR" sz="2000" dirty="0">
              <a:latin typeface="Liberation Serif" pitchFamily="18" charset="0"/>
              <a:cs typeface="Liberation Serif" pitchFamily="18" charset="0"/>
            </a:endParaRPr>
          </a:p>
          <a:p>
            <a:pPr marL="457200" lvl="2">
              <a:buFont typeface="Liberation Sans" pitchFamily="34" charset="0"/>
              <a:buChar char="•"/>
            </a:pPr>
            <a:endParaRPr lang="en-US" altLang="ko-KR" sz="2000" dirty="0">
              <a:latin typeface="Liberation Serif" pitchFamily="18" charset="0"/>
              <a:cs typeface="Liberation Serif" pitchFamily="18" charset="0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6817449" y="6110130"/>
            <a:ext cx="169790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Liberation Serif" charset="0"/>
                <a:ea typeface="Liberation Serif" charset="0"/>
                <a:cs typeface="Liberation Serif" charset="0"/>
              </a:rPr>
              <a:t>References: S</a:t>
            </a:r>
            <a:r>
              <a:rPr lang="ko-KR" altLang="en-US" sz="1000" dirty="0">
                <a:latin typeface="Liberation Serif" charset="0"/>
                <a:ea typeface="Liberation Serif" charset="0"/>
                <a:cs typeface="Liberation Serif" charset="0"/>
              </a:rPr>
              <a:t>tanford</a:t>
            </a:r>
            <a:r>
              <a:rPr lang="en-US" altLang="ko-KR" sz="1000" dirty="0">
                <a:latin typeface="Liberation Serif" charset="0"/>
                <a:ea typeface="Liberation Serif" charset="0"/>
                <a:cs typeface="Liberation Serif" charset="0"/>
              </a:rPr>
              <a:t> CS231n</a:t>
            </a:r>
            <a:endParaRPr lang="ko-KR" altLang="en-US" sz="1000" dirty="0">
              <a:latin typeface="Liberation Serif" charset="0"/>
              <a:ea typeface="Liberation Serif" charset="0"/>
              <a:cs typeface="Liberation Serif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460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7</a:t>
            </a:fld>
            <a:endParaRPr lang="ko-KR" altLang="en-US"/>
          </a:p>
        </p:txBody>
      </p:sp>
      <p:cxnSp>
        <p:nvCxnSpPr>
          <p:cNvPr id="5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467544" y="144085"/>
            <a:ext cx="8219256" cy="7018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b="1" dirty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Why is it Difficult to Analyze Video Data?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404328" y="1237328"/>
            <a:ext cx="82824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buFont typeface="Liberation Sans" pitchFamily="34" charset="0"/>
              <a:buChar char="•"/>
            </a:pPr>
            <a:r>
              <a:rPr lang="en-US" altLang="ko-KR" sz="2000" dirty="0">
                <a:latin typeface="Liberation Serif" pitchFamily="18" charset="0"/>
                <a:cs typeface="Liberation Serif" pitchFamily="18" charset="0"/>
              </a:rPr>
              <a:t> Challenges: Deformation</a:t>
            </a:r>
            <a:endParaRPr lang="en-US" altLang="ko-KR" sz="2000" b="1" dirty="0">
              <a:latin typeface="Liberation Serif" pitchFamily="18" charset="0"/>
              <a:cs typeface="Liberation Serif" pitchFamily="18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6817449" y="6110130"/>
            <a:ext cx="169790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Liberation Serif" charset="0"/>
                <a:ea typeface="Liberation Serif" charset="0"/>
                <a:cs typeface="Liberation Serif" charset="0"/>
              </a:rPr>
              <a:t>References: S</a:t>
            </a:r>
            <a:r>
              <a:rPr lang="ko-KR" altLang="en-US" sz="1000" dirty="0">
                <a:latin typeface="Liberation Serif" charset="0"/>
                <a:ea typeface="Liberation Serif" charset="0"/>
                <a:cs typeface="Liberation Serif" charset="0"/>
              </a:rPr>
              <a:t>tanford</a:t>
            </a:r>
            <a:r>
              <a:rPr lang="en-US" altLang="ko-KR" sz="1000" dirty="0">
                <a:latin typeface="Liberation Serif" charset="0"/>
                <a:ea typeface="Liberation Serif" charset="0"/>
                <a:cs typeface="Liberation Serif" charset="0"/>
              </a:rPr>
              <a:t> CS231n</a:t>
            </a:r>
            <a:endParaRPr lang="ko-KR" altLang="en-US" sz="1000" dirty="0">
              <a:latin typeface="Liberation Serif" charset="0"/>
              <a:ea typeface="Liberation Serif" charset="0"/>
              <a:cs typeface="Liberation Serif" charset="0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343" y="2398775"/>
            <a:ext cx="8644210" cy="255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759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8</a:t>
            </a:fld>
            <a:endParaRPr lang="ko-KR" altLang="en-US"/>
          </a:p>
        </p:txBody>
      </p:sp>
      <p:cxnSp>
        <p:nvCxnSpPr>
          <p:cNvPr id="5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467544" y="144085"/>
            <a:ext cx="8219256" cy="7018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b="1" dirty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Why is it Difficult to Analyze Video Data?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404328" y="1237328"/>
            <a:ext cx="82824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buFont typeface="Liberation Sans" pitchFamily="34" charset="0"/>
              <a:buChar char="•"/>
            </a:pPr>
            <a:r>
              <a:rPr lang="en-US" altLang="ko-KR" sz="2000" dirty="0">
                <a:latin typeface="Liberation Serif" pitchFamily="18" charset="0"/>
                <a:cs typeface="Liberation Serif" pitchFamily="18" charset="0"/>
              </a:rPr>
              <a:t> Challenges: Occlusion</a:t>
            </a:r>
            <a:endParaRPr lang="en-US" altLang="ko-KR" sz="2000" b="1" dirty="0">
              <a:latin typeface="Liberation Serif" pitchFamily="18" charset="0"/>
              <a:cs typeface="Liberation Serif" pitchFamily="18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6817449" y="6110130"/>
            <a:ext cx="169790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Liberation Serif" charset="0"/>
                <a:ea typeface="Liberation Serif" charset="0"/>
                <a:cs typeface="Liberation Serif" charset="0"/>
              </a:rPr>
              <a:t>References: S</a:t>
            </a:r>
            <a:r>
              <a:rPr lang="ko-KR" altLang="en-US" sz="1000" dirty="0">
                <a:latin typeface="Liberation Serif" charset="0"/>
                <a:ea typeface="Liberation Serif" charset="0"/>
                <a:cs typeface="Liberation Serif" charset="0"/>
              </a:rPr>
              <a:t>tanford</a:t>
            </a:r>
            <a:r>
              <a:rPr lang="en-US" altLang="ko-KR" sz="1000" dirty="0">
                <a:latin typeface="Liberation Serif" charset="0"/>
                <a:ea typeface="Liberation Serif" charset="0"/>
                <a:cs typeface="Liberation Serif" charset="0"/>
              </a:rPr>
              <a:t> CS231n</a:t>
            </a:r>
            <a:endParaRPr lang="ko-KR" altLang="en-US" sz="1000" dirty="0">
              <a:latin typeface="Liberation Serif" charset="0"/>
              <a:ea typeface="Liberation Serif" charset="0"/>
              <a:cs typeface="Liberation Serif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510" y="2069496"/>
            <a:ext cx="7987840" cy="3558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179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068" y="1633311"/>
            <a:ext cx="6286046" cy="4085420"/>
          </a:xfrm>
          <a:prstGeom prst="rect">
            <a:avLst/>
          </a:prstGeom>
        </p:spPr>
      </p:pic>
      <p:cxnSp>
        <p:nvCxnSpPr>
          <p:cNvPr id="6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/>
        </p:nvSpPr>
        <p:spPr>
          <a:xfrm>
            <a:off x="467544" y="144085"/>
            <a:ext cx="8219256" cy="7018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b="1" dirty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Why is it Difficult to Analyze Video Data?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404328" y="1237328"/>
            <a:ext cx="82824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buFont typeface="Liberation Sans" pitchFamily="34" charset="0"/>
              <a:buChar char="•"/>
            </a:pPr>
            <a:r>
              <a:rPr lang="en-US" altLang="ko-KR" sz="2000" dirty="0">
                <a:latin typeface="Liberation Serif" pitchFamily="18" charset="0"/>
                <a:cs typeface="Liberation Serif" pitchFamily="18" charset="0"/>
              </a:rPr>
              <a:t> Challenges: Intra-class Variation</a:t>
            </a:r>
            <a:endParaRPr lang="en-US" altLang="ko-KR" sz="2000" b="1" dirty="0">
              <a:latin typeface="Liberation Serif" pitchFamily="18" charset="0"/>
              <a:cs typeface="Liberation Serif" pitchFamily="18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6817449" y="6110130"/>
            <a:ext cx="169790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Liberation Serif" charset="0"/>
                <a:ea typeface="Liberation Serif" charset="0"/>
                <a:cs typeface="Liberation Serif" charset="0"/>
              </a:rPr>
              <a:t>References: S</a:t>
            </a:r>
            <a:r>
              <a:rPr lang="ko-KR" altLang="en-US" sz="1000" dirty="0">
                <a:latin typeface="Liberation Serif" charset="0"/>
                <a:ea typeface="Liberation Serif" charset="0"/>
                <a:cs typeface="Liberation Serif" charset="0"/>
              </a:rPr>
              <a:t>tanford</a:t>
            </a:r>
            <a:r>
              <a:rPr lang="en-US" altLang="ko-KR" sz="1000" dirty="0">
                <a:latin typeface="Liberation Serif" charset="0"/>
                <a:ea typeface="Liberation Serif" charset="0"/>
                <a:cs typeface="Liberation Serif" charset="0"/>
              </a:rPr>
              <a:t> CS231n</a:t>
            </a:r>
            <a:endParaRPr lang="ko-KR" altLang="en-US" sz="1000" dirty="0">
              <a:latin typeface="Liberation Serif" charset="0"/>
              <a:ea typeface="Liberation Serif" charset="0"/>
              <a:cs typeface="Liberation Serif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2565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10</a:t>
            </a:fld>
            <a:endParaRPr lang="ko-KR" altLang="en-US"/>
          </a:p>
        </p:txBody>
      </p:sp>
      <p:cxnSp>
        <p:nvCxnSpPr>
          <p:cNvPr id="6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/>
        </p:nvSpPr>
        <p:spPr>
          <a:xfrm>
            <a:off x="467544" y="144085"/>
            <a:ext cx="8219256" cy="7018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b="1" dirty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Why is it Difficult to Analyze Video Data?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404328" y="1237328"/>
            <a:ext cx="82824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buFont typeface="Liberation Sans" pitchFamily="34" charset="0"/>
              <a:buChar char="•"/>
            </a:pPr>
            <a:r>
              <a:rPr lang="en-US" altLang="ko-KR" sz="2000" dirty="0">
                <a:latin typeface="Liberation Serif" pitchFamily="18" charset="0"/>
                <a:cs typeface="Liberation Serif" pitchFamily="18" charset="0"/>
              </a:rPr>
              <a:t> Challenges: Cocktail Party Effect</a:t>
            </a:r>
            <a:endParaRPr lang="en-US" altLang="ko-KR" sz="2000" b="1" dirty="0">
              <a:latin typeface="Liberation Serif" pitchFamily="18" charset="0"/>
              <a:cs typeface="Liberation Serif" pitchFamily="18" charset="0"/>
            </a:endParaRPr>
          </a:p>
        </p:txBody>
      </p:sp>
      <p:pic>
        <p:nvPicPr>
          <p:cNvPr id="28674" name="Picture 2" descr="ocktail Party Effectì ëí ì´ë¯¸ì§ ê²ìê²°ê³¼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135" y="1802109"/>
            <a:ext cx="6748858" cy="430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5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11</a:t>
            </a:fld>
            <a:endParaRPr lang="ko-KR" altLang="en-US"/>
          </a:p>
        </p:txBody>
      </p:sp>
      <p:cxnSp>
        <p:nvCxnSpPr>
          <p:cNvPr id="5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467544" y="144085"/>
            <a:ext cx="8219256" cy="6206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600" b="1" dirty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Why is Video Analytics Recently Becoming a Big Player?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404328" y="1237328"/>
            <a:ext cx="828247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buFont typeface="Liberation Sans" pitchFamily="34" charset="0"/>
              <a:buChar char="•"/>
            </a:pPr>
            <a:r>
              <a:rPr lang="en-US" altLang="ko-KR" sz="2000" dirty="0">
                <a:latin typeface="Liberation Serif" pitchFamily="18" charset="0"/>
                <a:cs typeface="Liberation Serif" pitchFamily="18" charset="0"/>
              </a:rPr>
              <a:t> Deep Learning has achieved very promising results in a wide range of areas including </a:t>
            </a:r>
            <a:r>
              <a:rPr lang="en-US" altLang="ko-KR" sz="2000" b="1" dirty="0">
                <a:latin typeface="Liberation Serif" pitchFamily="18" charset="0"/>
                <a:cs typeface="Liberation Serif" pitchFamily="18" charset="0"/>
              </a:rPr>
              <a:t>Computer Vision</a:t>
            </a:r>
            <a:r>
              <a:rPr lang="en-US" altLang="ko-KR" sz="2000" dirty="0">
                <a:latin typeface="Liberation Serif" pitchFamily="18" charset="0"/>
                <a:cs typeface="Liberation Serif" pitchFamily="18" charset="0"/>
              </a:rPr>
              <a:t>, </a:t>
            </a:r>
            <a:r>
              <a:rPr lang="en-US" altLang="ko-KR" sz="2000" b="1" dirty="0">
                <a:latin typeface="Liberation Serif" pitchFamily="18" charset="0"/>
                <a:cs typeface="Liberation Serif" pitchFamily="18" charset="0"/>
              </a:rPr>
              <a:t>Speech Recognition </a:t>
            </a:r>
            <a:r>
              <a:rPr lang="en-US" altLang="ko-KR" sz="2000" dirty="0">
                <a:latin typeface="Liberation Serif" pitchFamily="18" charset="0"/>
                <a:cs typeface="Liberation Serif" pitchFamily="18" charset="0"/>
              </a:rPr>
              <a:t>and </a:t>
            </a:r>
            <a:r>
              <a:rPr lang="en-US" altLang="ko-KR" sz="2000" b="1" dirty="0">
                <a:latin typeface="Liberation Serif" pitchFamily="18" charset="0"/>
                <a:cs typeface="Liberation Serif" pitchFamily="18" charset="0"/>
              </a:rPr>
              <a:t>Natural Language Processing</a:t>
            </a:r>
          </a:p>
        </p:txBody>
      </p:sp>
      <p:pic>
        <p:nvPicPr>
          <p:cNvPr id="5122" name="Picture 2" descr="eep learningì ëí ì´ë¯¸ì§ ê²ìê²°ê³¼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439" y="2951243"/>
            <a:ext cx="6572250" cy="246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5614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12</a:t>
            </a:fld>
            <a:endParaRPr lang="ko-KR" altLang="en-US"/>
          </a:p>
        </p:txBody>
      </p:sp>
      <p:cxnSp>
        <p:nvCxnSpPr>
          <p:cNvPr id="5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467544" y="144085"/>
            <a:ext cx="8219256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600" b="1" dirty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Key Market Segments of Video Analytics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2815932" y="6016029"/>
            <a:ext cx="573258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1000" dirty="0">
                <a:latin typeface="Liberation Serif" charset="0"/>
                <a:ea typeface="Liberation Serif" charset="0"/>
                <a:cs typeface="Liberation Serif" charset="0"/>
                <a:hlinkClick r:id="rId3"/>
              </a:rPr>
              <a:t>https://datafloq.com/read/what-is-video-analytics-why-becoming-big-player/2312</a:t>
            </a:r>
            <a:endParaRPr lang="ko-KR" altLang="en-US" sz="1000" dirty="0">
              <a:latin typeface="Liberation Serif" charset="0"/>
              <a:ea typeface="Liberation Serif" charset="0"/>
              <a:cs typeface="Liberation Serif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04328" y="1237328"/>
            <a:ext cx="828247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Liberation Sans" pitchFamily="34" charset="0"/>
              <a:buChar char="•"/>
            </a:pPr>
            <a:r>
              <a:rPr lang="en-US" altLang="ko-KR" sz="2000" dirty="0">
                <a:latin typeface="Liberation Serif" pitchFamily="18" charset="0"/>
                <a:cs typeface="Liberation Serif" pitchFamily="18" charset="0"/>
              </a:rPr>
              <a:t> Video Analytics Market was valued at $2,745 million in 2016, and is estimated to reach $13,381 million by 2023 (Allied Market Research, 2017)</a:t>
            </a:r>
          </a:p>
        </p:txBody>
      </p:sp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1477403" y="2213426"/>
          <a:ext cx="6670553" cy="3658331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52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8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34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Video Analytics</a:t>
                      </a:r>
                      <a:r>
                        <a:rPr lang="en-US" altLang="ko-KR" sz="2000" baseline="0" dirty="0"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 Market Key Segments</a:t>
                      </a:r>
                      <a:endParaRPr lang="ko-KR" altLang="en-US" sz="20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57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dirty="0"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By Application</a:t>
                      </a:r>
                      <a:endParaRPr lang="ko-KR" altLang="en-US" sz="15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aseline="0" dirty="0"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- Activity and Event Recognition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aseline="0" dirty="0"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- Audio and Speech Processing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aseline="0" dirty="0"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- Scene Analysis and Interpretation 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baseline="0" dirty="0"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- Visual Feature Extraction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aseline="0" dirty="0"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- Question Answering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57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dirty="0"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Industry Vertical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dirty="0"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- Entertainment</a:t>
                      </a:r>
                    </a:p>
                    <a:p>
                      <a:pPr latinLnBrk="1"/>
                      <a:r>
                        <a:rPr lang="en-US" altLang="ko-KR" sz="1500" dirty="0"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- Healthcare</a:t>
                      </a:r>
                    </a:p>
                    <a:p>
                      <a:pPr latinLnBrk="1"/>
                      <a:r>
                        <a:rPr lang="en-US" altLang="ko-KR" sz="1500" dirty="0"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- </a:t>
                      </a:r>
                      <a:r>
                        <a:rPr lang="en-US" altLang="ko-KR" sz="1500" baseline="0" dirty="0"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H</a:t>
                      </a:r>
                      <a:r>
                        <a:rPr lang="en-US" altLang="ko-KR" sz="1500" dirty="0"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ome Automation</a:t>
                      </a:r>
                    </a:p>
                    <a:p>
                      <a:pPr latinLnBrk="1"/>
                      <a:r>
                        <a:rPr lang="en-US" altLang="ko-KR" sz="1500" dirty="0"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- Transportation</a:t>
                      </a:r>
                    </a:p>
                    <a:p>
                      <a:pPr latinLnBrk="1"/>
                      <a:r>
                        <a:rPr lang="en-US" altLang="ko-KR" sz="1500" dirty="0"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- Retail</a:t>
                      </a:r>
                    </a:p>
                    <a:p>
                      <a:pPr latinLnBrk="1"/>
                      <a:r>
                        <a:rPr lang="en-US" altLang="ko-KR" sz="1500" dirty="0"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- Manufacturing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- Energy &amp; Utilities</a:t>
                      </a:r>
                    </a:p>
                    <a:p>
                      <a:pPr latinLnBrk="1"/>
                      <a:r>
                        <a:rPr lang="en-US" altLang="ko-KR" sz="1500" dirty="0">
                          <a:latin typeface="Liberation Serif" charset="0"/>
                          <a:ea typeface="Liberation Serif" charset="0"/>
                          <a:cs typeface="Liberation Serif" charset="0"/>
                        </a:rPr>
                        <a:t>- Critical Infrastructure</a:t>
                      </a:r>
                      <a:endParaRPr lang="en-US" altLang="ko-KR" sz="1500" baseline="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직사각형 11"/>
          <p:cNvSpPr/>
          <p:nvPr/>
        </p:nvSpPr>
        <p:spPr>
          <a:xfrm>
            <a:off x="3959684" y="6173506"/>
            <a:ext cx="4572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en-US" altLang="ko-KR" sz="1000" dirty="0">
                <a:latin typeface="Liberation Serif" charset="0"/>
                <a:ea typeface="Liberation Serif" charset="0"/>
                <a:cs typeface="Liberation Serif" charset="0"/>
                <a:hlinkClick r:id="rId4"/>
              </a:rPr>
              <a:t>https://www.alliedmarketresearch.com/video-analytics-market</a:t>
            </a:r>
            <a:endParaRPr lang="ko-KR" altLang="en-US" sz="1000" dirty="0">
              <a:latin typeface="Liberation Serif" charset="0"/>
              <a:ea typeface="Liberation Serif" charset="0"/>
              <a:cs typeface="Liberation Serif" charset="0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-310243" y="732614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>
                <a:latin typeface="Liberation Serif" charset="0"/>
                <a:ea typeface="Liberation Serif" charset="0"/>
                <a:cs typeface="Liberation Serif" charset="0"/>
              </a:rPr>
              <a:t>* Object Detection; Object Recognition; Privacy, Anonymity, and Security; *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0221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13</a:t>
            </a:fld>
            <a:endParaRPr lang="ko-KR" altLang="en-US"/>
          </a:p>
        </p:txBody>
      </p:sp>
      <p:cxnSp>
        <p:nvCxnSpPr>
          <p:cNvPr id="5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467544" y="144085"/>
            <a:ext cx="8219256" cy="7018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b="1" dirty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Intelligent Video Analytics with Deep Learning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404328" y="1221708"/>
            <a:ext cx="829126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Liberation Sans" pitchFamily="34" charset="0"/>
              <a:buChar char="•"/>
            </a:pPr>
            <a:r>
              <a:rPr lang="en-US" altLang="ko-KR" sz="2000" dirty="0">
                <a:latin typeface="Liberation Serif" pitchFamily="18" charset="0"/>
                <a:cs typeface="Liberation Serif" pitchFamily="18" charset="0"/>
              </a:rPr>
              <a:t> Welcome to “Intelligent Video Analytics with Deep Learning”</a:t>
            </a:r>
          </a:p>
          <a:p>
            <a:pPr>
              <a:buFont typeface="Liberation Sans" pitchFamily="34" charset="0"/>
              <a:buChar char="•"/>
            </a:pPr>
            <a:endParaRPr lang="en-US" altLang="ko-KR" sz="2000" dirty="0">
              <a:latin typeface="Liberation Serif" pitchFamily="18" charset="0"/>
              <a:cs typeface="Liberation Serif" pitchFamily="18" charset="0"/>
            </a:endParaRPr>
          </a:p>
          <a:p>
            <a:pPr>
              <a:buFont typeface="Liberation Sans" pitchFamily="34" charset="0"/>
              <a:buChar char="•"/>
            </a:pPr>
            <a:r>
              <a:rPr lang="en-US" altLang="ko-KR" sz="2000" dirty="0">
                <a:latin typeface="Liberation Serif" pitchFamily="18" charset="0"/>
                <a:cs typeface="Liberation Serif" pitchFamily="18" charset="0"/>
              </a:rPr>
              <a:t> We mainly focus on 1. </a:t>
            </a:r>
            <a:r>
              <a:rPr lang="en-US" altLang="ko-KR" sz="2000" b="1" dirty="0">
                <a:latin typeface="Liberation Serif" pitchFamily="18" charset="0"/>
                <a:cs typeface="Liberation Serif" pitchFamily="18" charset="0"/>
              </a:rPr>
              <a:t>social science research and practice applying video analytics</a:t>
            </a:r>
            <a:r>
              <a:rPr lang="ko-KR" altLang="en-US" sz="2000" b="1" dirty="0">
                <a:latin typeface="Liberation Serif" pitchFamily="18" charset="0"/>
                <a:cs typeface="Liberation Serif" pitchFamily="18" charset="0"/>
              </a:rPr>
              <a:t> </a:t>
            </a:r>
            <a:r>
              <a:rPr lang="en-US" altLang="ko-KR" sz="2000" dirty="0">
                <a:latin typeface="Liberation Serif" pitchFamily="18" charset="0"/>
                <a:cs typeface="Liberation Serif" pitchFamily="18" charset="0"/>
              </a:rPr>
              <a:t>and</a:t>
            </a:r>
            <a:r>
              <a:rPr lang="en-US" altLang="ko-KR" sz="2000" b="1" dirty="0">
                <a:latin typeface="Liberation Serif" pitchFamily="18" charset="0"/>
                <a:cs typeface="Liberation Serif" pitchFamily="18" charset="0"/>
              </a:rPr>
              <a:t> 2. learn how to understand and analyze quantitative video data </a:t>
            </a:r>
            <a:r>
              <a:rPr lang="en-US" altLang="ko-KR" sz="2000" dirty="0">
                <a:latin typeface="Liberation Serif" pitchFamily="18" charset="0"/>
                <a:cs typeface="Liberation Serif" pitchFamily="18" charset="0"/>
              </a:rPr>
              <a:t>based on deep learning</a:t>
            </a:r>
          </a:p>
        </p:txBody>
      </p:sp>
    </p:spTree>
    <p:extLst>
      <p:ext uri="{BB962C8B-B14F-4D97-AF65-F5344CB8AC3E}">
        <p14:creationId xmlns:p14="http://schemas.microsoft.com/office/powerpoint/2010/main" val="482217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14</a:t>
            </a:fld>
            <a:endParaRPr lang="ko-KR" altLang="en-US"/>
          </a:p>
        </p:txBody>
      </p:sp>
      <p:cxnSp>
        <p:nvCxnSpPr>
          <p:cNvPr id="5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467544" y="144085"/>
            <a:ext cx="8219256" cy="7018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b="1" dirty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Three Modules of This Session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350217" y="1486221"/>
            <a:ext cx="8673861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Liberation Sans" pitchFamily="34" charset="0"/>
              <a:buChar char="•"/>
            </a:pPr>
            <a:r>
              <a:rPr lang="en-US" altLang="ko-KR" sz="2000" dirty="0">
                <a:latin typeface="Liberation Serif" pitchFamily="18" charset="0"/>
                <a:cs typeface="Liberation Serif" pitchFamily="18" charset="0"/>
              </a:rPr>
              <a:t> Module 1. Video Analytics and Social Science Research</a:t>
            </a:r>
          </a:p>
          <a:p>
            <a:pPr>
              <a:buFont typeface="Liberation Sans" pitchFamily="34" charset="0"/>
              <a:buChar char="•"/>
            </a:pPr>
            <a:endParaRPr lang="en-US" altLang="ko-KR" sz="2000" dirty="0">
              <a:latin typeface="Liberation Serif" pitchFamily="18" charset="0"/>
              <a:cs typeface="Liberation Serif" pitchFamily="18" charset="0"/>
            </a:endParaRPr>
          </a:p>
          <a:p>
            <a:pPr>
              <a:buFont typeface="Liberation Sans" pitchFamily="34" charset="0"/>
              <a:buChar char="•"/>
            </a:pPr>
            <a:r>
              <a:rPr lang="en-US" altLang="ko-KR" sz="2000" dirty="0">
                <a:latin typeface="Liberation Serif" pitchFamily="18" charset="0"/>
                <a:cs typeface="Liberation Serif" pitchFamily="18" charset="0"/>
              </a:rPr>
              <a:t> Module 2. Underlying Mechanisms of Deep Learning</a:t>
            </a:r>
          </a:p>
          <a:p>
            <a:pPr>
              <a:buFont typeface="Liberation Sans" pitchFamily="34" charset="0"/>
              <a:buChar char="•"/>
            </a:pPr>
            <a:endParaRPr lang="en-US" altLang="ko-KR" sz="2000" dirty="0">
              <a:latin typeface="Liberation Serif" pitchFamily="18" charset="0"/>
              <a:cs typeface="Liberation Serif" pitchFamily="18" charset="0"/>
            </a:endParaRPr>
          </a:p>
          <a:p>
            <a:pPr>
              <a:buFont typeface="Liberation Sans" pitchFamily="34" charset="0"/>
              <a:buChar char="•"/>
            </a:pPr>
            <a:r>
              <a:rPr lang="en-US" altLang="ko-KR" sz="2000" dirty="0">
                <a:latin typeface="Liberation Serif" pitchFamily="18" charset="0"/>
                <a:cs typeface="Liberation Serif" pitchFamily="18" charset="0"/>
              </a:rPr>
              <a:t> Module 3. Detecting Labels in Your Own Video Data</a:t>
            </a:r>
          </a:p>
        </p:txBody>
      </p:sp>
    </p:spTree>
    <p:extLst>
      <p:ext uri="{BB962C8B-B14F-4D97-AF65-F5344CB8AC3E}">
        <p14:creationId xmlns:p14="http://schemas.microsoft.com/office/powerpoint/2010/main" val="431299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4305290"/>
            <a:ext cx="4680520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4000" spc="-150" dirty="0">
                <a:solidFill>
                  <a:schemeClr val="bg1"/>
                </a:solidFill>
                <a:latin typeface="Liberation Sans" pitchFamily="18" charset="-127"/>
                <a:ea typeface="Liberation Sans" pitchFamily="18" charset="-127"/>
              </a:rPr>
              <a:t>Thank you.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323528" y="332656"/>
            <a:ext cx="5760640" cy="477995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7544" y="825995"/>
            <a:ext cx="5472608" cy="31854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endParaRPr lang="en-US" altLang="ko-KR" sz="4400" spc="-150" dirty="0">
              <a:solidFill>
                <a:schemeClr val="bg1"/>
              </a:solidFill>
              <a:latin typeface="Liberation Serif" panose="02020603050405020304" pitchFamily="18" charset="0"/>
              <a:ea typeface="나눔고딕" panose="020D0604000000000000" pitchFamily="50" charset="-127"/>
              <a:cs typeface="Liberation Serif" panose="02020603050405020304" pitchFamily="18" charset="0"/>
            </a:endParaRPr>
          </a:p>
          <a:p>
            <a:pPr algn="r"/>
            <a:endParaRPr lang="en-US" altLang="ko-KR" sz="4400" spc="-150" dirty="0">
              <a:solidFill>
                <a:schemeClr val="bg1"/>
              </a:solidFill>
              <a:latin typeface="Liberation Serif" panose="02020603050405020304" pitchFamily="18" charset="0"/>
              <a:ea typeface="나눔고딕" panose="020D0604000000000000" pitchFamily="50" charset="-127"/>
              <a:cs typeface="Liberation Serif" panose="02020603050405020304" pitchFamily="18" charset="0"/>
            </a:endParaRPr>
          </a:p>
          <a:p>
            <a:pPr algn="r"/>
            <a:r>
              <a:rPr lang="en-US" altLang="ko-KR" sz="4400" spc="-150" dirty="0">
                <a:solidFill>
                  <a:schemeClr val="bg1"/>
                </a:solidFill>
                <a:latin typeface="Liberation Serif" panose="02020603050405020304" pitchFamily="18" charset="0"/>
                <a:ea typeface="나눔고딕" panose="020D0604000000000000" pitchFamily="50" charset="-127"/>
                <a:cs typeface="Liberation Serif" panose="02020603050405020304" pitchFamily="18" charset="0"/>
              </a:rPr>
              <a:t>Thank you </a:t>
            </a:r>
            <a:r>
              <a:rPr lang="en-US" altLang="ko-KR" sz="4400" spc="-150" dirty="0">
                <a:solidFill>
                  <a:schemeClr val="bg1"/>
                </a:solidFill>
                <a:latin typeface="Liberation Serif" panose="02020603050405020304" pitchFamily="18" charset="0"/>
                <a:ea typeface="나눔고딕" panose="020D0604000000000000" pitchFamily="50" charset="-127"/>
                <a:cs typeface="Liberation Serif" panose="02020603050405020304" pitchFamily="18" charset="0"/>
                <a:sym typeface="Wingdings"/>
              </a:rPr>
              <a:t></a:t>
            </a:r>
            <a:endParaRPr lang="en-US" altLang="ko-KR" sz="4400" spc="-150" dirty="0">
              <a:solidFill>
                <a:schemeClr val="bg1"/>
              </a:solidFill>
              <a:latin typeface="Liberation Serif" panose="02020603050405020304" pitchFamily="18" charset="0"/>
              <a:ea typeface="나눔고딕" panose="020D0604000000000000" pitchFamily="50" charset="-127"/>
              <a:cs typeface="Liberation Serif" panose="02020603050405020304" pitchFamily="18" charset="0"/>
            </a:endParaRPr>
          </a:p>
          <a:p>
            <a:pPr algn="r"/>
            <a:endParaRPr lang="en-US" altLang="ko-KR" sz="4400" spc="-150" dirty="0">
              <a:solidFill>
                <a:schemeClr val="bg1"/>
              </a:solidFill>
              <a:latin typeface="Liberation Serif" panose="02020603050405020304" pitchFamily="18" charset="0"/>
              <a:ea typeface="나눔고딕" panose="020D0604000000000000" pitchFamily="50" charset="-127"/>
              <a:cs typeface="Liberation Serif" panose="02020603050405020304" pitchFamily="18" charset="0"/>
            </a:endParaRPr>
          </a:p>
          <a:p>
            <a:pPr algn="r"/>
            <a:r>
              <a:rPr lang="en-US" altLang="ko-KR" sz="2500" spc="-150" dirty="0">
                <a:solidFill>
                  <a:schemeClr val="bg1"/>
                </a:solidFill>
                <a:latin typeface="Liberation Serif" panose="02020603050405020304" pitchFamily="18" charset="0"/>
                <a:ea typeface="나눔고딕" panose="020D0604000000000000" pitchFamily="50" charset="-127"/>
                <a:cs typeface="Liberation Serif" panose="02020603050405020304" pitchFamily="18" charset="0"/>
              </a:rPr>
              <a:t>Contact Info: </a:t>
            </a:r>
            <a:r>
              <a:rPr lang="en-US" altLang="ko-KR" sz="2500" spc="-150" dirty="0" err="1">
                <a:solidFill>
                  <a:schemeClr val="bg1"/>
                </a:solidFill>
                <a:latin typeface="Liberation Serif" panose="02020603050405020304" pitchFamily="18" charset="0"/>
                <a:ea typeface="나눔고딕" panose="020D0604000000000000" pitchFamily="50" charset="-127"/>
                <a:cs typeface="Liberation Serif" panose="02020603050405020304" pitchFamily="18" charset="0"/>
              </a:rPr>
              <a:t>quantic.jh@gmail.com</a:t>
            </a:r>
            <a:endParaRPr lang="en-US" altLang="ko-KR" sz="2500" spc="-150" dirty="0">
              <a:solidFill>
                <a:schemeClr val="bg1"/>
              </a:solidFill>
              <a:latin typeface="Liberation Serif" panose="02020603050405020304" pitchFamily="18" charset="0"/>
              <a:ea typeface="나눔고딕" panose="020D0604000000000000" pitchFamily="50" charset="-127"/>
              <a:cs typeface="Liberation Serif" panose="02020603050405020304" pitchFamily="18" charset="0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8A1D-F5E3-4971-B0EE-D6B8EE5A56B1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148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rlito" panose="020F0302020204030204"/>
        <a:ea typeface=""/>
        <a:cs typeface=""/>
        <a:font script="Jpan" typeface="Liberation Sans"/>
        <a:font script="Hang" typeface="Liberation Sans"/>
        <a:font script="Hans" typeface="Liberation Sans"/>
        <a:font script="Hant" typeface="Liberation Sans"/>
        <a:font script="Arab" typeface="Liberation Serif"/>
        <a:font script="Hebr" typeface="Liberation Serif"/>
        <a:font script="Thai" typeface="Liberation Serif"/>
        <a:font script="Ethi" typeface="Liberation Sans"/>
        <a:font script="Beng" typeface="Liberation Sans"/>
        <a:font script="Gujr" typeface="Liberation Sans"/>
        <a:font script="Khmr" typeface="Liberation Sans"/>
        <a:font script="Knda" typeface="Liberation Sans"/>
        <a:font script="Guru" typeface="Liberation Sans"/>
        <a:font script="Cans" typeface="Liberation Sans"/>
        <a:font script="Cher" typeface="Liberation Serif"/>
        <a:font script="Yiii" typeface="Liberation Sans"/>
        <a:font script="Tibt" typeface="Liberation Sans"/>
        <a:font script="Thaa" typeface="Liberation Sans"/>
        <a:font script="Deva" typeface="Liberation Sans"/>
        <a:font script="Telu" typeface="Liberation Sans"/>
        <a:font script="Taml" typeface="Liberation Sans"/>
        <a:font script="Syrc" typeface="Liberation Sans"/>
        <a:font script="Orya" typeface="Liberation Sans"/>
        <a:font script="Mlym" typeface="Liberation Sans"/>
        <a:font script="Laoo" typeface="Liberation Sans"/>
        <a:font script="Sinh" typeface="Liberation Sans"/>
        <a:font script="Mong" typeface="Liberation Sans"/>
        <a:font script="Viet" typeface="Liberation Serif"/>
        <a:font script="Uigh" typeface="Liberation Sans"/>
        <a:font script="Geor" typeface="Liberation Serif"/>
      </a:majorFont>
      <a:minorFont>
        <a:latin typeface="Carlito" panose="020F0502020204030204"/>
        <a:ea typeface=""/>
        <a:cs typeface=""/>
        <a:font script="Jpan" typeface="Liberation Sans"/>
        <a:font script="Hang" typeface="Liberation Sans"/>
        <a:font script="Hans" typeface="Liberation Sans"/>
        <a:font script="Hant" typeface="Liberation Sans"/>
        <a:font script="Arab" typeface="Liberation Sans"/>
        <a:font script="Hebr" typeface="Liberation Sans"/>
        <a:font script="Thai" typeface="Liberation Sans"/>
        <a:font script="Ethi" typeface="Liberation Sans"/>
        <a:font script="Beng" typeface="Liberation Sans"/>
        <a:font script="Gujr" typeface="Liberation Sans"/>
        <a:font script="Khmr" typeface="Liberation Sans"/>
        <a:font script="Knda" typeface="Liberation Sans"/>
        <a:font script="Guru" typeface="Liberation Sans"/>
        <a:font script="Cans" typeface="Liberation Sans"/>
        <a:font script="Cher" typeface="Liberation Serif"/>
        <a:font script="Yiii" typeface="Liberation Sans"/>
        <a:font script="Tibt" typeface="Liberation Sans"/>
        <a:font script="Thaa" typeface="Liberation Sans"/>
        <a:font script="Deva" typeface="Liberation Sans"/>
        <a:font script="Telu" typeface="Liberation Sans"/>
        <a:font script="Taml" typeface="Liberation Sans"/>
        <a:font script="Syrc" typeface="Liberation Sans"/>
        <a:font script="Orya" typeface="Liberation Sans"/>
        <a:font script="Mlym" typeface="Liberation Sans"/>
        <a:font script="Laoo" typeface="Liberation Sans"/>
        <a:font script="Sinh" typeface="Liberation Sans"/>
        <a:font script="Mong" typeface="Liberation Sans"/>
        <a:font script="Viet" typeface="Liberation Sans"/>
        <a:font script="Uigh" typeface="Liberation Sans"/>
        <a:font script="Geor" typeface="Liberation Serif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ans" panose="020F0302020204030204"/>
        <a:ea typeface=""/>
        <a:cs typeface=""/>
        <a:font script="Jpan" typeface="Liberation Sans"/>
        <a:font script="Hang" typeface="Liberation Sans"/>
        <a:font script="Hans" typeface="Liberation Sans"/>
        <a:font script="Hant" typeface="Liberation Sans"/>
        <a:font script="Arab" typeface="Liberation Serif"/>
        <a:font script="Hebr" typeface="Liberation Serif"/>
        <a:font script="Thai" typeface="Liberation Serif"/>
        <a:font script="Ethi" typeface="Liberation Sans"/>
        <a:font script="Beng" typeface="Liberation Sans"/>
        <a:font script="Gujr" typeface="Liberation Sans"/>
        <a:font script="Khmr" typeface="Liberation Sans"/>
        <a:font script="Knda" typeface="Liberation Sans"/>
        <a:font script="Guru" typeface="Liberation Sans"/>
        <a:font script="Cans" typeface="Liberation Sans"/>
        <a:font script="Cher" typeface="Liberation Serif"/>
        <a:font script="Yiii" typeface="Liberation Sans"/>
        <a:font script="Tibt" typeface="Liberation Sans"/>
        <a:font script="Thaa" typeface="Liberation Sans"/>
        <a:font script="Deva" typeface="Liberation Sans"/>
        <a:font script="Telu" typeface="Liberation Sans"/>
        <a:font script="Taml" typeface="Liberation Sans"/>
        <a:font script="Syrc" typeface="Liberation Sans"/>
        <a:font script="Orya" typeface="Liberation Sans"/>
        <a:font script="Mlym" typeface="Liberation Sans"/>
        <a:font script="Laoo" typeface="Liberation Sans"/>
        <a:font script="Sinh" typeface="Liberation Sans"/>
        <a:font script="Mong" typeface="Liberation Sans"/>
        <a:font script="Viet" typeface="Liberation Serif"/>
        <a:font script="Uigh" typeface="Liberation Sans"/>
        <a:font script="Geor" typeface="Liberation Serif"/>
      </a:majorFont>
      <a:minorFont>
        <a:latin typeface="Liberation Sans" panose="020F0502020204030204"/>
        <a:ea typeface=""/>
        <a:cs typeface=""/>
        <a:font script="Jpan" typeface="Liberation Sans"/>
        <a:font script="Hang" typeface="Liberation Sans"/>
        <a:font script="Hans" typeface="Liberation Sans"/>
        <a:font script="Hant" typeface="Liberation Sans"/>
        <a:font script="Arab" typeface="Liberation Sans"/>
        <a:font script="Hebr" typeface="Liberation Sans"/>
        <a:font script="Thai" typeface="Liberation Sans"/>
        <a:font script="Ethi" typeface="Liberation Sans"/>
        <a:font script="Beng" typeface="Liberation Sans"/>
        <a:font script="Gujr" typeface="Liberation Sans"/>
        <a:font script="Khmr" typeface="Liberation Sans"/>
        <a:font script="Knda" typeface="Liberation Sans"/>
        <a:font script="Guru" typeface="Liberation Sans"/>
        <a:font script="Cans" typeface="Liberation Sans"/>
        <a:font script="Cher" typeface="Liberation Serif"/>
        <a:font script="Yiii" typeface="Liberation Sans"/>
        <a:font script="Tibt" typeface="Liberation Sans"/>
        <a:font script="Thaa" typeface="Liberation Sans"/>
        <a:font script="Deva" typeface="Liberation Sans"/>
        <a:font script="Telu" typeface="Liberation Sans"/>
        <a:font script="Taml" typeface="Liberation Sans"/>
        <a:font script="Syrc" typeface="Liberation Sans"/>
        <a:font script="Orya" typeface="Liberation Sans"/>
        <a:font script="Mlym" typeface="Liberation Sans"/>
        <a:font script="Laoo" typeface="Liberation Sans"/>
        <a:font script="Sinh" typeface="Liberation Sans"/>
        <a:font script="Mong" typeface="Liberation Sans"/>
        <a:font script="Viet" typeface="Liberation Sans"/>
        <a:font script="Uigh" typeface="Liberation Sans"/>
        <a:font script="Geor" typeface="Liberation Serif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4248B0D-032D-441E-8F69-570676CC434B}">
  <we:reference id="WA200010001" version="1.0.0.1" store="Omex" storeType="OMEX"/>
  <we:alternateReferences>
    <we:reference id="WA200010001" version="1.0.0.1" store="WA20001000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2998</TotalTime>
  <Words>751</Words>
  <Application>Microsoft Office PowerPoint</Application>
  <PresentationFormat>On-screen Show (4:3)</PresentationFormat>
  <Paragraphs>138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Carlito</vt:lpstr>
      <vt:lpstr>Liberation Sans</vt:lpstr>
      <vt:lpstr>Liberation Serif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Jongho Kim</dc:creator>
  <cp:lastModifiedBy>Jongho Kim</cp:lastModifiedBy>
  <cp:revision>313</cp:revision>
  <cp:lastPrinted>2018-11-06T16:25:53Z</cp:lastPrinted>
  <dcterms:created xsi:type="dcterms:W3CDTF">2017-11-16T01:26:47Z</dcterms:created>
  <dcterms:modified xsi:type="dcterms:W3CDTF">2026-04-01T23:37:33Z</dcterms:modified>
</cp:coreProperties>
</file>