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440" r:id="rId3"/>
    <p:sldId id="469" r:id="rId4"/>
    <p:sldId id="490" r:id="rId5"/>
    <p:sldId id="471" r:id="rId6"/>
    <p:sldId id="472" r:id="rId7"/>
    <p:sldId id="473" r:id="rId8"/>
    <p:sldId id="501" r:id="rId9"/>
    <p:sldId id="502" r:id="rId10"/>
    <p:sldId id="474" r:id="rId11"/>
    <p:sldId id="475" r:id="rId12"/>
    <p:sldId id="476" r:id="rId13"/>
    <p:sldId id="491" r:id="rId14"/>
    <p:sldId id="477" r:id="rId15"/>
    <p:sldId id="504" r:id="rId16"/>
    <p:sldId id="500" r:id="rId17"/>
    <p:sldId id="503" r:id="rId18"/>
    <p:sldId id="479" r:id="rId19"/>
    <p:sldId id="483" r:id="rId20"/>
    <p:sldId id="505" r:id="rId21"/>
    <p:sldId id="506" r:id="rId22"/>
    <p:sldId id="499" r:id="rId23"/>
    <p:sldId id="480" r:id="rId24"/>
    <p:sldId id="496" r:id="rId25"/>
    <p:sldId id="494" r:id="rId26"/>
    <p:sldId id="495" r:id="rId27"/>
    <p:sldId id="462" r:id="rId28"/>
    <p:sldId id="465" r:id="rId29"/>
    <p:sldId id="265" r:id="rId30"/>
    <p:sldId id="508" r:id="rId31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95" autoAdjust="0"/>
    <p:restoredTop sz="75349" autoAdjust="0"/>
  </p:normalViewPr>
  <p:slideViewPr>
    <p:cSldViewPr snapToGrid="0">
      <p:cViewPr>
        <p:scale>
          <a:sx n="118" d="100"/>
          <a:sy n="118" d="100"/>
        </p:scale>
        <p:origin x="22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12" d="100"/>
          <a:sy n="112" d="100"/>
        </p:scale>
        <p:origin x="1424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1CA79-2599-4315-B6AE-5F2874CAD386}" type="datetimeFigureOut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A2357-0992-46ED-803D-80E7A74122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4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CA2357-0992-46ED-803D-80E7A74122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88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290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35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534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968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6607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C562BB-DACB-4090-9EB0-C718CC4DFD5D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32826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FA1A34C3-F8C9-4591-BE1C-D28C4C0893F6}" type="datetime1">
              <a:rPr lang="ko-KR" altLang="en-US" smtClean="0"/>
              <a:pPr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1854200" y="6426202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Jongho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Kim (</a:t>
            </a:r>
            <a:r>
              <a:rPr lang="da-DK" altLang="ko-KR" sz="1200" baseline="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quantic.jh@gmail.com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1" name="Picture 4" descr="http://img.incujector.com/upload/project/project65293_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" y="6065945"/>
            <a:ext cx="1082280" cy="7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53135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2pPr>
            <a:lvl3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3pPr>
            <a:lvl4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4pPr>
            <a:lvl5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85E91-9024-4D87-92B9-83A81129C7D2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ko-KR" altLang="en-US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바닥글 개체 틀 1"/>
          <p:cNvSpPr txBox="1">
            <a:spLocks/>
          </p:cNvSpPr>
          <p:nvPr userDrawn="1"/>
        </p:nvSpPr>
        <p:spPr>
          <a:xfrm>
            <a:off x="2032000" y="6453336"/>
            <a:ext cx="557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854200" y="6426202"/>
            <a:ext cx="541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a-DK" altLang="ko-KR" sz="12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Jongho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 Kim (</a:t>
            </a:r>
            <a:r>
              <a:rPr lang="da-DK" altLang="ko-KR" sz="1200" baseline="0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quantic.jh@gmail.com</a:t>
            </a:r>
            <a:r>
              <a:rPr lang="da-DK" altLang="ko-KR" sz="1200" baseline="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)</a:t>
            </a:r>
            <a:endParaRPr lang="ko-KR" altLang="en-US" sz="12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12" name="Picture 4" descr="http://img.incujector.com/upload/project/project65293_0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16" y="6065945"/>
            <a:ext cx="1082280" cy="7474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3519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570C1E5E-8BFE-4E18-8083-E0D4A25AA34A}" type="datetime1">
              <a:rPr lang="ko-KR" altLang="en-US" smtClean="0"/>
              <a:pPr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861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73A16-2ED4-4195-BFB1-1276CB5AFB92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0900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FA459-E99E-4D1B-82DC-E473DF187DD5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81720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0593B-247B-4BBF-97D4-61F6106A9158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097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32513548-F093-49F5-8517-C9434CD0DB32}" type="datetime1">
              <a:rPr lang="ko-KR" altLang="en-US" smtClean="0"/>
              <a:pPr/>
              <a:t>2019. 4. 23.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Liberation Serif" panose="02020603050405020304" pitchFamily="18" charset="0"/>
                <a:cs typeface="Liberation Serif" panose="02020603050405020304" pitchFamily="18" charset="0"/>
              </a:defRPr>
            </a:lvl1pPr>
          </a:lstStyle>
          <a:p>
            <a:fld id="{2B9805CF-A1BB-403B-B716-9385F32BA91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1676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FB121-40C8-43C4-BF9D-A7A65A074920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96938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22092-D82B-4F3C-8DD1-5440BBC71CF7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93293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CA81A-6B3D-43C6-A3F0-46B6A4C7DF9B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750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ED7BF-6143-4204-8B36-C148EBB97875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5913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A94D3-974E-418C-8C29-54198149C10E}" type="datetime1">
              <a:rPr lang="ko-KR" altLang="en-US" smtClean="0"/>
              <a:t>2019. 4. 23.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805CF-A1BB-403B-B716-9385F32BA9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6102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Liberation Sans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Liberation Sans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stavros.io/tutorials/python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tif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ko.wikipedia.org/wiki/%EC%9D%B8%ED%84%B0%ED%8E%98%EC%9D%B4%EC%8A%A4_(%EC%BB%B4%ED%93%A8%ED%8C%85)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tiff"/><Relationship Id="rId3" Type="http://schemas.openxmlformats.org/officeDocument/2006/relationships/image" Target="../media/image5.tiff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oud.google.com/video-intelligence/" TargetMode="External"/><Relationship Id="rId3" Type="http://schemas.openxmlformats.org/officeDocument/2006/relationships/image" Target="../media/image6.tif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hyperlink" Target="https://bit.ly/2IOPeuI" TargetMode="Externa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tiff"/><Relationship Id="rId3" Type="http://schemas.openxmlformats.org/officeDocument/2006/relationships/hyperlink" Target="http://drive.google.com/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tiff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hyperlink" Target="https://www.ted.com/talks/shyam_sankar_the_rise_of_human_computer_cooperation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lucypark.kr/courses/tips/introduction-to-python.html" TargetMode="External"/><Relationship Id="rId3" Type="http://schemas.openxmlformats.org/officeDocument/2006/relationships/hyperlink" Target="https://carpedm20.github.io/140min-pyth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251520" y="332656"/>
            <a:ext cx="6408712" cy="47799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</a:t>
            </a:fld>
            <a:endParaRPr lang="ko-KR" altLang="en-US" dirty="0"/>
          </a:p>
        </p:txBody>
      </p:sp>
      <p:sp>
        <p:nvSpPr>
          <p:cNvPr id="6" name="부제목 2"/>
          <p:cNvSpPr>
            <a:spLocks noGrp="1"/>
          </p:cNvSpPr>
          <p:nvPr>
            <p:ph type="subTitle" idx="1"/>
          </p:nvPr>
        </p:nvSpPr>
        <p:spPr>
          <a:xfrm>
            <a:off x="323528" y="3238500"/>
            <a:ext cx="6192688" cy="1448668"/>
          </a:xfrm>
        </p:spPr>
        <p:txBody>
          <a:bodyPr>
            <a:noAutofit/>
          </a:bodyPr>
          <a:lstStyle/>
          <a:p>
            <a:pPr algn="r"/>
            <a:endParaRPr lang="en-US" altLang="ko-KR" sz="1800" spc="-3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Jongho Kim</a:t>
            </a:r>
            <a:endParaRPr lang="ko-KR" altLang="en-US" sz="1800" spc="-3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1800" spc="-3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December &amp; </a:t>
            </a:r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Company Inc.</a:t>
            </a:r>
          </a:p>
          <a:p>
            <a:pPr algn="r"/>
            <a:r>
              <a:rPr lang="en-US" altLang="ko-KR" sz="1800" spc="-3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Spring, 2019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872" y="404664"/>
            <a:ext cx="6408712" cy="31547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Business </a:t>
            </a:r>
            <a:r>
              <a:rPr lang="en-US" altLang="ko-KR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Analytics</a:t>
            </a:r>
            <a:r>
              <a:rPr lang="ko-KR" altLang="en-US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r>
              <a:rPr lang="en-US" altLang="ko-KR" sz="1500" dirty="0" smtClean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(</a:t>
            </a:r>
            <a:r>
              <a:rPr lang="en-US" altLang="ko-KR" sz="15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IM561)</a:t>
            </a:r>
          </a:p>
          <a:p>
            <a:pPr>
              <a:lnSpc>
                <a:spcPct val="150000"/>
              </a:lnSpc>
            </a:pPr>
            <a:endParaRPr lang="en-US" altLang="ko-KR" sz="2000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>
              <a:lnSpc>
                <a:spcPct val="150000"/>
              </a:lnSpc>
            </a:pPr>
            <a:endParaRPr lang="en-US" altLang="ko-KR" sz="1000" spc="-150" dirty="0" smtClean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>
              <a:lnSpc>
                <a:spcPct val="150000"/>
              </a:lnSpc>
            </a:pPr>
            <a:r>
              <a:rPr lang="en-US" altLang="ko-KR" sz="20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Module3. Detecting Labels in Your Own Video Data</a:t>
            </a:r>
          </a:p>
          <a:p>
            <a:pPr algn="r">
              <a:lnSpc>
                <a:spcPct val="150000"/>
              </a:lnSpc>
            </a:pPr>
            <a:endParaRPr lang="en-US" altLang="ko-KR" sz="500" b="1" dirty="0">
              <a:solidFill>
                <a:schemeClr val="bg1"/>
              </a:solidFill>
              <a:latin typeface="Liberation Serif" charset="0"/>
              <a:ea typeface="Liberation Serif" charset="0"/>
              <a:cs typeface="Liberation Serif" charset="0"/>
            </a:endParaRPr>
          </a:p>
          <a:p>
            <a:pPr algn="r"/>
            <a:r>
              <a:rPr lang="en-US" altLang="ko-KR" sz="32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Intelligent Video Analytics </a:t>
            </a:r>
          </a:p>
          <a:p>
            <a:pPr algn="r"/>
            <a:r>
              <a:rPr lang="en-US" altLang="ko-KR" sz="3200" dirty="0">
                <a:solidFill>
                  <a:schemeClr val="bg1"/>
                </a:solidFill>
                <a:latin typeface="Liberation Serif" charset="0"/>
                <a:ea typeface="Liberation Serif" charset="0"/>
                <a:cs typeface="Liberation Serif" charset="0"/>
              </a:rPr>
              <a:t>with Deep Learning</a:t>
            </a:r>
          </a:p>
        </p:txBody>
      </p:sp>
    </p:spTree>
    <p:extLst>
      <p:ext uri="{BB962C8B-B14F-4D97-AF65-F5344CB8AC3E}">
        <p14:creationId xmlns:p14="http://schemas.microsoft.com/office/powerpoint/2010/main" val="3323904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85101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7104" y="2879017"/>
            <a:ext cx="8886267" cy="661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28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Module3. </a:t>
            </a:r>
            <a:r>
              <a:rPr lang="en-US" altLang="ko-KR" sz="28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Detecting Labels in Your Own Video Data</a:t>
            </a:r>
          </a:p>
        </p:txBody>
      </p:sp>
    </p:spTree>
    <p:extLst>
      <p:ext uri="{BB962C8B-B14F-4D97-AF65-F5344CB8AC3E}">
        <p14:creationId xmlns:p14="http://schemas.microsoft.com/office/powerpoint/2010/main" val="184874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85101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7104" y="2879017"/>
            <a:ext cx="8886267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0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Learn Python in 5 Minutes</a:t>
            </a:r>
            <a:endParaRPr lang="en-US" altLang="ko-KR" sz="30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570237" y="5727300"/>
            <a:ext cx="4108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latin typeface="Liberation Sans" charset="0"/>
                <a:ea typeface="Liberation Sans" charset="0"/>
                <a:cs typeface="Liberation Sans" charset="0"/>
                <a:hlinkClick r:id="rId3"/>
              </a:rPr>
              <a:t>https://www.stavros.io/tutorials/python/</a:t>
            </a:r>
            <a:endParaRPr lang="ko-KR" altLang="en-US" dirty="0">
              <a:latin typeface="Liberation Sans" charset="0"/>
              <a:ea typeface="Liberation Sans" charset="0"/>
              <a:cs typeface="Liberation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5929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4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0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Features of Python</a:t>
            </a:r>
            <a:endParaRPr lang="en-US" altLang="ko-KR" sz="30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7" name="내용 개체 틀 2"/>
          <p:cNvSpPr>
            <a:spLocks noGrp="1"/>
          </p:cNvSpPr>
          <p:nvPr>
            <p:ph idx="1"/>
          </p:nvPr>
        </p:nvSpPr>
        <p:spPr>
          <a:xfrm>
            <a:off x="606610" y="1394090"/>
            <a:ext cx="7886700" cy="4351338"/>
          </a:xfrm>
        </p:spPr>
        <p:txBody>
          <a:bodyPr>
            <a:normAutofit/>
          </a:bodyPr>
          <a:lstStyle/>
          <a:p>
            <a:r>
              <a:rPr kumimoji="1" lang="ko-KR" altLang="en-US" sz="2000" dirty="0" smtClean="0"/>
              <a:t>Code is easy to read</a:t>
            </a:r>
            <a:endParaRPr kumimoji="1" lang="en-US" altLang="ko-KR" sz="2000" dirty="0" smtClean="0"/>
          </a:p>
          <a:p>
            <a:r>
              <a:rPr kumimoji="1" lang="ko-KR" altLang="en-US" sz="2000" dirty="0" smtClean="0"/>
              <a:t>Syntax is concise</a:t>
            </a:r>
            <a:r>
              <a:rPr kumimoji="1" lang="ko-KR" altLang="en-US" sz="2000" b="1" dirty="0" smtClean="0"/>
              <a:t/>
            </a:r>
            <a:r>
              <a:rPr kumimoji="1" lang="ko-KR" altLang="en-US" sz="2000" dirty="0" smtClean="0"/>
              <a:t/>
            </a:r>
            <a:endParaRPr kumimoji="1" lang="en-US" altLang="ko-KR" sz="2000" dirty="0" smtClean="0"/>
          </a:p>
          <a:p>
            <a:r>
              <a:rPr kumimoji="1" lang="ko-KR" altLang="en-US" sz="2000" dirty="0" smtClean="0"/>
              <a:t>Development speed is fast</a:t>
            </a:r>
            <a:r>
              <a:rPr kumimoji="1" lang="ko-KR" altLang="en-US" sz="2000" b="1" dirty="0" smtClean="0"/>
              <a:t/>
            </a:r>
            <a:endParaRPr kumimoji="1" lang="en-US" altLang="ko-KR" sz="2000" b="1" dirty="0" smtClean="0"/>
          </a:p>
          <a:p>
            <a:r>
              <a:rPr kumimoji="1" lang="ko-KR" altLang="en-US" sz="2000" dirty="0" smtClean="0"/>
              <a:t>Programming is fun</a:t>
            </a:r>
            <a:r>
              <a:rPr kumimoji="1" lang="ko-KR" altLang="en-US" sz="2000" b="1" dirty="0" smtClean="0"/>
              <a:t/>
            </a:r>
            <a:endParaRPr kumimoji="1" lang="ko-KR" altLang="en-US" sz="2000" b="1" dirty="0"/>
          </a:p>
        </p:txBody>
      </p:sp>
      <p:pic>
        <p:nvPicPr>
          <p:cNvPr id="1026" name="Picture 2" descr="ife is too short, you need python.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3385" y="1394090"/>
            <a:ext cx="3609926" cy="4211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469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Package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Python*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24150" y="2873057"/>
            <a:ext cx="4262705" cy="461665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b="1" dirty="0">
                <a:latin typeface="Liberation Mono" panose="020B0609020204030204" pitchFamily="49" charset="0"/>
                <a:cs typeface="Liberation Mono" panose="020B0609020204030204" pitchFamily="49" charset="0"/>
              </a:rPr>
              <a:t>pip install </a:t>
            </a:r>
            <a:r>
              <a:rPr lang="en-US" sz="2400" dirty="0" err="1">
                <a:latin typeface="Liberation Mono" panose="020B0609020204030204" pitchFamily="49" charset="0"/>
                <a:cs typeface="Liberation Mono" panose="020B0609020204030204" pitchFamily="49" charset="0"/>
              </a:rPr>
              <a:t>package_name</a:t>
            </a:r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2142" y="5851159"/>
            <a:ext cx="2015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* Run outside the Python shell</a:t>
            </a:r>
            <a:r>
              <a:rPr lang="ko-KR" altLang="en-US" sz="1200" dirty="0" smtClean="0"/>
              <a:t/>
            </a:r>
            <a:r>
              <a:rPr lang="en-US" altLang="ko-KR" sz="1200" dirty="0" smtClean="0"/>
              <a:t/>
            </a:r>
            <a:r>
              <a:rPr lang="ko-KR" altLang="en-US" sz="1200" dirty="0" smtClean="0"/>
              <a:t/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62502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Using Packages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46659" y="2904050"/>
            <a:ext cx="3413114" cy="461665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altLang="ko-KR" sz="2400" b="1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import</a:t>
            </a:r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</a:t>
            </a:r>
            <a:r>
              <a:rPr lang="en-US" altLang="ko-KR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package_name</a:t>
            </a:r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5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Python**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4631" y="2733569"/>
            <a:ext cx="3752950" cy="1938992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= [‘a’, ‘b’, ‘c’]</a:t>
            </a:r>
          </a:p>
          <a:p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abc.append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(‘d’)</a:t>
            </a:r>
          </a:p>
          <a:p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print(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[0]) </a:t>
            </a:r>
          </a:p>
          <a:p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print(</a:t>
            </a:r>
            <a:r>
              <a:rPr lang="en-US" altLang="ko-KR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[1]) </a:t>
            </a:r>
            <a:endParaRPr lang="en-US" altLang="ko-KR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66240" y="5913782"/>
            <a:ext cx="11853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/>
              <a:t>** Also known as "list"</a:t>
            </a:r>
            <a:r>
              <a:rPr lang="ko-KR" altLang="en-US" sz="1200" dirty="0" smtClean="0"/>
              <a:t/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304533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Dictionary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4631" y="2733569"/>
            <a:ext cx="2733441" cy="1938992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= </a:t>
            </a:r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{}</a:t>
            </a:r>
          </a:p>
          <a:p>
            <a:r>
              <a:rPr lang="en-US" altLang="ko-KR" sz="2400" dirty="0" err="1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[‘a’] = 1</a:t>
            </a:r>
          </a:p>
          <a:p>
            <a:r>
              <a:rPr lang="en-US" altLang="ko-KR" sz="2400" dirty="0" err="1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[‘b’] </a:t>
            </a:r>
            <a:r>
              <a:rPr lang="en-US" altLang="ko-KR" sz="2400" dirty="0">
                <a:latin typeface="Liberation Mono" panose="020B0609020204030204" pitchFamily="49" charset="0"/>
                <a:cs typeface="Liberation Mono" panose="020B0609020204030204" pitchFamily="49" charset="0"/>
              </a:rPr>
              <a:t>= </a:t>
            </a:r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2</a:t>
            </a:r>
          </a:p>
          <a:p>
            <a:endParaRPr lang="en-US" altLang="ko-KR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print(</a:t>
            </a:r>
            <a:r>
              <a:rPr lang="en-US" altLang="ko-KR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[‘a’])</a:t>
            </a:r>
            <a:endParaRPr lang="en-US" altLang="ko-KR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20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List + Dictionary</a:t>
            </a:r>
            <a:r>
              <a:rPr lang="en-US" altLang="ko-KR" dirty="0" smtClean="0"/>
              <a:t/>
            </a:r>
            <a:r>
              <a:rPr lang="ko-KR" altLang="en-US" dirty="0" smtClean="0"/>
              <a:t/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9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894631" y="2733569"/>
            <a:ext cx="3243196" cy="1569660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li = </a:t>
            </a:r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[]</a:t>
            </a:r>
          </a:p>
          <a:p>
            <a:r>
              <a:rPr lang="en-US" altLang="ko-KR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li.append</a:t>
            </a:r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({‘a’:1})</a:t>
            </a:r>
          </a:p>
          <a:p>
            <a:endParaRPr lang="en-US" altLang="ko-KR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altLang="ko-KR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print(li[0][‘a’])</a:t>
            </a:r>
            <a:endParaRPr lang="en-US" altLang="ko-KR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679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 concatenation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24150" y="2873055"/>
            <a:ext cx="3752950" cy="1200329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= [‘a’, ‘b’, ’c’]</a:t>
            </a:r>
          </a:p>
          <a:p>
            <a:endParaRPr lang="en-US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‘ ‘.join(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abc</a:t>
            </a:r>
            <a:r>
              <a:rPr lang="en-US" sz="2400" dirty="0">
                <a:latin typeface="Liberation Mono" panose="020B0609020204030204" pitchFamily="49" charset="0"/>
                <a:cs typeface="Liberation Mono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726985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String </a:t>
            </a:r>
            <a:r>
              <a:rPr lang="en-US" smtClean="0"/>
              <a:t>substitution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Python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11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708651" y="2888552"/>
            <a:ext cx="4262705" cy="461665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‘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beat’.replace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(‘b’, ‘n’)</a:t>
            </a:r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7193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74918" y="2661930"/>
            <a:ext cx="3583032" cy="830997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for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</a:t>
            </a:r>
            <a:r>
              <a:rPr lang="en-US" sz="2400" b="1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in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range(1,5):</a:t>
            </a: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   print(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)</a:t>
            </a:r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0400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99754" y="2691114"/>
            <a:ext cx="3752950" cy="1569660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a = range(1,4)</a:t>
            </a: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s = [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**2 for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in a]</a:t>
            </a:r>
          </a:p>
          <a:p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print(sum(s))</a:t>
            </a:r>
          </a:p>
        </p:txBody>
      </p:sp>
    </p:spTree>
    <p:extLst>
      <p:ext uri="{BB962C8B-B14F-4D97-AF65-F5344CB8AC3E}">
        <p14:creationId xmlns:p14="http://schemas.microsoft.com/office/powerpoint/2010/main" val="122379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Function</a:t>
            </a:r>
            <a:r>
              <a:rPr lang="ko-KR" alt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801642" y="2510264"/>
            <a:ext cx="2903359" cy="830997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b="1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def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jiggle(x):</a:t>
            </a: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   </a:t>
            </a:r>
            <a:r>
              <a:rPr lang="en-US" sz="2400" b="1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return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x + 1</a:t>
            </a:r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83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File Input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24150" y="2107932"/>
            <a:ext cx="5282215" cy="1938992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import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io</a:t>
            </a:r>
            <a:endParaRPr lang="en-US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endParaRPr lang="en-US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f =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io.</a:t>
            </a:r>
            <a:r>
              <a:rPr lang="en-US" sz="2400" b="1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open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(‘kaist.mp4’, ‘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rb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’)</a:t>
            </a: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video =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f.read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()</a:t>
            </a:r>
          </a:p>
          <a:p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f.close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493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Dictionary + List to Table</a:t>
            </a:r>
            <a:r>
              <a:rPr lang="en-US" altLang="ko-KR" dirty="0" smtClean="0"/>
              <a:t/>
            </a:r>
            <a:r>
              <a:rPr lang="ko-KR" alt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16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24150" y="2107932"/>
            <a:ext cx="5961888" cy="1569660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import pandas as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pd</a:t>
            </a:r>
            <a:endParaRPr lang="en-US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endParaRPr lang="en-US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df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=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pd.DataFrame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([{‘</a:t>
            </a:r>
            <a:r>
              <a:rPr lang="en-US" sz="2400" dirty="0">
                <a:latin typeface="Liberation Mono" panose="020B0609020204030204" pitchFamily="49" charset="0"/>
                <a:cs typeface="Liberation Mono" panose="020B0609020204030204" pitchFamily="49" charset="0"/>
              </a:rPr>
              <a:t>a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’:1,’b’:2}, </a:t>
            </a:r>
          </a:p>
          <a:p>
            <a:r>
              <a:rPr lang="en-US" sz="2400" dirty="0">
                <a:latin typeface="Liberation Mono" panose="020B0609020204030204" pitchFamily="49" charset="0"/>
                <a:cs typeface="Liberation Mono" panose="020B0609020204030204" pitchFamily="49" charset="0"/>
              </a:rPr>
              <a:t>	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		{‘a’:3, ‘b’:4}])</a:t>
            </a:r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413" y="4094835"/>
            <a:ext cx="1441174" cy="176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6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Saving a Table as CSV</a:t>
            </a:r>
            <a:r>
              <a:rPr lang="ko-KR" altLang="en-US" dirty="0"/>
              <a:t/>
            </a:r>
            <a:r>
              <a:rPr lang="en-US" altLang="ko-KR" dirty="0" smtClean="0"/>
              <a:t/>
            </a:r>
            <a:r>
              <a:rPr lang="ko-KR" alt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17</a:t>
            </a:fld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Python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724150" y="2107932"/>
            <a:ext cx="5961888" cy="2308324"/>
          </a:xfrm>
          <a:prstGeom prst="rect">
            <a:avLst/>
          </a:prstGeom>
          <a:solidFill>
            <a:srgbClr val="E2E2E2"/>
          </a:solidFill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import pandas as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pd</a:t>
            </a:r>
            <a:endParaRPr lang="en-US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endParaRPr lang="en-US" sz="2400" dirty="0" smtClean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df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 = 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pd.DataFrame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([{‘a’:1,’b’:2}, </a:t>
            </a:r>
          </a:p>
          <a:p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			{‘a’:3, ‘b’:4}])</a:t>
            </a:r>
          </a:p>
          <a:p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  <a:p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df.to_csv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(‘</a:t>
            </a:r>
            <a:r>
              <a:rPr lang="en-US" sz="2400" dirty="0" err="1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test.csv</a:t>
            </a:r>
            <a:r>
              <a:rPr lang="en-US" sz="2400" dirty="0" smtClean="0">
                <a:latin typeface="Liberation Mono" panose="020B0609020204030204" pitchFamily="49" charset="0"/>
                <a:cs typeface="Liberation Mono" panose="020B0609020204030204" pitchFamily="49" charset="0"/>
              </a:rPr>
              <a:t>’)</a:t>
            </a:r>
            <a:endParaRPr lang="en-US" sz="2400" dirty="0">
              <a:latin typeface="Liberation Mono" panose="020B0609020204030204" pitchFamily="49" charset="0"/>
              <a:cs typeface="Liberation Mono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08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85101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7104" y="2879017"/>
            <a:ext cx="8886267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0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Google Cloud API</a:t>
            </a:r>
            <a:endParaRPr lang="en-US" altLang="ko-KR" sz="30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9270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 smtClean="0"/>
              <a:t>What is an API?</a:t>
            </a:r>
            <a:r>
              <a:rPr kumimoji="1" lang="ko-KR" altLang="en-US" dirty="0" smtClean="0"/>
              <a:t/>
            </a:r>
            <a:r>
              <a:rPr kumimoji="1" lang="en-US" altLang="ko-KR" dirty="0" smtClean="0"/>
              <a:t/>
            </a:r>
            <a:endParaRPr kumimoji="1"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b="1" dirty="0">
                <a:latin typeface="+mn-ea"/>
              </a:rPr>
              <a:t>API(Application Programming Interface)</a:t>
            </a:r>
          </a:p>
          <a:p>
            <a:pPr lvl="1"/>
            <a:r>
              <a:rPr lang="en-US" altLang="ko-KR" sz="1800" dirty="0" smtClean="0">
                <a:latin typeface="+mn-ea"/>
              </a:rPr>
              <a:t>API stands for Application Programming Interface, which refers to an interface that allows application programs to control the functions provided by the operating system or programming language.</a:t>
            </a:r>
            <a:r>
              <a:rPr lang="ko-KR" altLang="en-US" sz="1800" dirty="0">
                <a:latin typeface="+mn-ea"/>
              </a:rPr>
              <a:t/>
            </a:r>
            <a:r>
              <a:rPr lang="en-US" altLang="ko-KR" sz="1800" dirty="0">
                <a:latin typeface="+mn-ea"/>
              </a:rPr>
              <a:t/>
            </a:r>
            <a:r>
              <a:rPr lang="ko-KR" altLang="en-US" sz="1800" dirty="0">
                <a:latin typeface="+mn-ea"/>
              </a:rPr>
              <a:t/>
            </a:r>
            <a:r>
              <a:rPr lang="ko-KR" altLang="en-US" sz="1800" dirty="0">
                <a:solidFill>
                  <a:srgbClr val="C00000"/>
                </a:solidFill>
                <a:latin typeface="+mn-ea"/>
                <a:hlinkClick r:id="rId2" tooltip="This link will take you away from steemit.com"/>
              </a:rPr>
              <a:t/>
            </a:r>
            <a:r>
              <a:rPr lang="ko-KR" altLang="en-US" sz="1800" dirty="0">
                <a:latin typeface="+mn-ea"/>
              </a:rPr>
              <a:t/>
            </a:r>
            <a:r>
              <a:rPr lang="en-US" altLang="ko-KR" sz="1800" dirty="0">
                <a:latin typeface="+mn-ea"/>
              </a:rPr>
              <a:t/>
            </a:r>
          </a:p>
          <a:p>
            <a:endParaRPr kumimoji="1" lang="en-US" altLang="ko-KR" sz="2000" dirty="0" smtClean="0">
              <a:latin typeface="+mn-ea"/>
            </a:endParaRPr>
          </a:p>
          <a:p>
            <a:r>
              <a:rPr lang="ko-KR" altLang="en-US" sz="2000" b="1" dirty="0" smtClean="0">
                <a:latin typeface="+mn-ea"/>
              </a:rPr>
              <a:t>Interface</a:t>
            </a:r>
            <a:r>
              <a:rPr lang="en-US" altLang="ko-KR" sz="2000" b="1" dirty="0">
                <a:latin typeface="+mn-ea"/>
              </a:rPr>
              <a:t/>
            </a:r>
          </a:p>
          <a:p>
            <a:pPr lvl="1"/>
            <a:r>
              <a:rPr lang="ko-KR" altLang="en-US" sz="1800" dirty="0">
                <a:latin typeface="+mn-ea"/>
              </a:rPr>
              <a:t>An interface refers to a shared boundary through which computer systems exchange information. </a:t>
            </a:r>
            <a:r>
              <a:rPr lang="en-US" altLang="ko-KR" sz="1800" dirty="0">
                <a:latin typeface="+mn-ea"/>
              </a:rPr>
              <a:t/>
            </a:r>
            <a:r>
              <a:rPr lang="ko-KR" altLang="en-US" sz="1800" dirty="0">
                <a:latin typeface="+mn-ea"/>
              </a:rPr>
              <a:t/>
            </a:r>
            <a:r>
              <a:rPr lang="ko-KR" altLang="en-US" sz="1800" dirty="0">
                <a:solidFill>
                  <a:srgbClr val="C00000"/>
                </a:solidFill>
                <a:latin typeface="+mn-ea"/>
              </a:rPr>
              <a:t/>
            </a:r>
            <a:r>
              <a:rPr lang="ko-KR" altLang="en-US" sz="1800" dirty="0">
                <a:latin typeface="+mn-ea"/>
              </a:rPr>
              <a:t/>
            </a:r>
            <a:r>
              <a:rPr lang="en-US" altLang="ko-KR" sz="1800" dirty="0">
                <a:latin typeface="+mn-ea"/>
              </a:rPr>
              <a:t/>
            </a:r>
            <a:endParaRPr lang="en-US" altLang="ko-KR" sz="1800" dirty="0" smtClean="0">
              <a:latin typeface="+mn-ea"/>
            </a:endParaRPr>
          </a:p>
          <a:p>
            <a:pPr lvl="1"/>
            <a:endParaRPr lang="en-US" altLang="ko-KR" sz="1800" dirty="0">
              <a:latin typeface="+mn-ea"/>
            </a:endParaRPr>
          </a:p>
          <a:p>
            <a:pPr lvl="1"/>
            <a:r>
              <a:rPr lang="ko-KR" altLang="en-US" sz="1800" dirty="0" smtClean="0">
                <a:latin typeface="+mn-ea"/>
              </a:rPr>
              <a:t>Some computer hardware devices, such as touch screens, can send and receive data through interfaces, while devices like mice and microphones provide interfaces that only transmit data to the system.</a:t>
            </a:r>
            <a:r>
              <a:rPr lang="ko-KR" altLang="en-US" sz="1800" dirty="0">
                <a:latin typeface="+mn-ea"/>
              </a:rPr>
              <a:t/>
            </a:r>
            <a:r>
              <a:rPr lang="en-US" altLang="ko-KR" sz="1800" dirty="0">
                <a:latin typeface="+mn-ea"/>
              </a:rPr>
              <a:t/>
            </a:r>
            <a:r>
              <a:rPr lang="ko-KR" altLang="en-US" sz="1800" dirty="0">
                <a:latin typeface="+mn-ea"/>
              </a:rPr>
              <a:t/>
            </a:r>
            <a:r>
              <a:rPr lang="en-US" altLang="ko-KR" sz="1800" dirty="0">
                <a:latin typeface="+mn-ea"/>
              </a:rPr>
              <a:t/>
            </a:r>
          </a:p>
          <a:p>
            <a:endParaRPr kumimoji="1" lang="ko-KR" altLang="en-US" sz="1800" dirty="0">
              <a:latin typeface="+mn-ea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69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0" y="2477053"/>
            <a:ext cx="2540000" cy="2540000"/>
          </a:xfrm>
          <a:prstGeom prst="rect">
            <a:avLst/>
          </a:prstGeom>
        </p:spPr>
      </p:pic>
      <p:cxnSp>
        <p:nvCxnSpPr>
          <p:cNvPr id="14" name="Curved Connector 8"/>
          <p:cNvCxnSpPr>
            <a:endCxn id="12" idx="0"/>
          </p:cNvCxnSpPr>
          <p:nvPr/>
        </p:nvCxnSpPr>
        <p:spPr>
          <a:xfrm rot="5400000" flipH="1" flipV="1">
            <a:off x="4675239" y="-162908"/>
            <a:ext cx="12700" cy="5279922"/>
          </a:xfrm>
          <a:prstGeom prst="curved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9"/>
          <p:cNvSpPr txBox="1"/>
          <p:nvPr/>
        </p:nvSpPr>
        <p:spPr>
          <a:xfrm>
            <a:off x="3934468" y="1621680"/>
            <a:ext cx="188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1. Request</a:t>
            </a:r>
            <a:r>
              <a:rPr lang="ko-KR" altLang="en-US" dirty="0" smtClean="0"/>
              <a:t/>
            </a:r>
            <a:r>
              <a:rPr lang="en-US" altLang="ko-KR" dirty="0"/>
              <a:t/>
            </a:r>
            <a:r>
              <a:rPr lang="en-US" altLang="ko-KR" dirty="0" smtClean="0"/>
              <a:t/>
            </a:r>
          </a:p>
        </p:txBody>
      </p:sp>
      <p:sp>
        <p:nvSpPr>
          <p:cNvPr id="6" name="제목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kumimoji="1" lang="en-US" altLang="ko-KR" dirty="0" smtClean="0"/>
              <a:t>REST What is an API?</a:t>
            </a:r>
            <a:r>
              <a:rPr kumimoji="1" lang="ko-KR" altLang="en-US" dirty="0" smtClean="0"/>
              <a:t/>
            </a:r>
            <a:r>
              <a:rPr kumimoji="1" lang="en-US" altLang="ko-KR" dirty="0" smtClean="0"/>
              <a:t/>
            </a:r>
            <a:endParaRPr kumimoji="1" lang="ko-KR" altLang="en-US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88" y="2705929"/>
            <a:ext cx="2275080" cy="208859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471865" y="2457515"/>
            <a:ext cx="306526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500" dirty="0" smtClean="0">
                <a:latin typeface="+mn-ea"/>
              </a:rPr>
              <a:t>Resources are represented using URI format</a:t>
            </a:r>
            <a:r>
              <a:rPr lang="ko-KR" altLang="en-US" sz="1500" dirty="0">
                <a:latin typeface="+mn-ea"/>
              </a:rPr>
              <a:t/>
            </a:r>
            <a:r>
              <a:rPr lang="ko-KR" altLang="en-US" sz="1500" dirty="0" smtClean="0">
                <a:latin typeface="+mn-ea"/>
              </a:rPr>
              <a:t/>
            </a:r>
            <a:r>
              <a:rPr lang="ko-KR" altLang="en-US" sz="1500" dirty="0">
                <a:latin typeface="+mn-ea"/>
              </a:rPr>
              <a:t/>
            </a:r>
          </a:p>
        </p:txBody>
      </p:sp>
      <p:sp>
        <p:nvSpPr>
          <p:cNvPr id="4" name="직사각형 3"/>
          <p:cNvSpPr/>
          <p:nvPr/>
        </p:nvSpPr>
        <p:spPr>
          <a:xfrm>
            <a:off x="3436279" y="3387977"/>
            <a:ext cx="3136436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500" dirty="0">
                <a:latin typeface="+mn-ea"/>
              </a:rPr>
              <a:t>Actions on resources use HTTP Methods</a:t>
            </a:r>
            <a:r>
              <a:rPr lang="en-US" altLang="ko-KR" sz="1500" dirty="0">
                <a:latin typeface="+mn-ea"/>
              </a:rPr>
              <a:t/>
            </a:r>
            <a:r>
              <a:rPr lang="en-US" altLang="ko-KR" sz="1500" dirty="0" smtClean="0">
                <a:latin typeface="+mn-ea"/>
              </a:rPr>
              <a:t/>
            </a:r>
          </a:p>
        </p:txBody>
      </p:sp>
      <p:sp>
        <p:nvSpPr>
          <p:cNvPr id="5" name="직사각형 4"/>
          <p:cNvSpPr/>
          <p:nvPr/>
        </p:nvSpPr>
        <p:spPr>
          <a:xfrm>
            <a:off x="367375" y="1655175"/>
            <a:ext cx="2237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altLang="ko-KR" dirty="0">
                <a:latin typeface="+mn-ea"/>
              </a:rPr>
              <a:t>Client - Server Architecture</a:t>
            </a:r>
            <a:r>
              <a:rPr lang="ko-KR" altLang="nl-NL" dirty="0">
                <a:latin typeface="+mn-ea"/>
              </a:rPr>
              <a:t/>
            </a:r>
            <a:endParaRPr lang="ko-KR" altLang="nl-NL" b="0" i="0" dirty="0">
              <a:effectLst/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090734" y="2742270"/>
            <a:ext cx="382752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500" smtClean="0">
                <a:solidFill>
                  <a:srgbClr val="111111"/>
                </a:solidFill>
                <a:latin typeface="Liberation Sans" charset="0"/>
              </a:rPr>
              <a:t>Ex. </a:t>
            </a:r>
            <a:r>
              <a:rPr lang="en-US" altLang="ko-KR" sz="1500" dirty="0" smtClean="0">
                <a:solidFill>
                  <a:srgbClr val="111111"/>
                </a:solidFill>
                <a:latin typeface="Liberation Sans" charset="0"/>
              </a:rPr>
              <a:t>https</a:t>
            </a:r>
            <a:r>
              <a:rPr lang="en-US" altLang="ko-KR" sz="1500" dirty="0">
                <a:solidFill>
                  <a:srgbClr val="111111"/>
                </a:solidFill>
                <a:latin typeface="Liberation Sans" charset="0"/>
              </a:rPr>
              <a:t>://</a:t>
            </a:r>
            <a:r>
              <a:rPr lang="en-US" altLang="ko-KR" sz="1500" dirty="0" err="1">
                <a:solidFill>
                  <a:srgbClr val="111111"/>
                </a:solidFill>
                <a:latin typeface="Liberation Sans" charset="0"/>
              </a:rPr>
              <a:t>www.google.co.kr</a:t>
            </a:r>
            <a:r>
              <a:rPr lang="en-US" altLang="ko-KR" sz="1500" dirty="0">
                <a:solidFill>
                  <a:srgbClr val="111111"/>
                </a:solidFill>
                <a:latin typeface="Liberation Sans" charset="0"/>
              </a:rPr>
              <a:t>/</a:t>
            </a:r>
            <a:r>
              <a:rPr lang="en-US" altLang="ko-KR" sz="1500" dirty="0" err="1">
                <a:solidFill>
                  <a:srgbClr val="111111"/>
                </a:solidFill>
                <a:latin typeface="Liberation Sans" charset="0"/>
              </a:rPr>
              <a:t>search?q</a:t>
            </a:r>
            <a:r>
              <a:rPr lang="en-US" altLang="ko-KR" sz="1500" dirty="0">
                <a:solidFill>
                  <a:srgbClr val="111111"/>
                </a:solidFill>
                <a:latin typeface="Liberation Sans" charset="0"/>
              </a:rPr>
              <a:t>=</a:t>
            </a:r>
            <a:r>
              <a:rPr lang="en-US" altLang="ko-KR" sz="1500" dirty="0" err="1">
                <a:solidFill>
                  <a:srgbClr val="111111"/>
                </a:solidFill>
                <a:latin typeface="Liberation Sans" charset="0"/>
              </a:rPr>
              <a:t>uri</a:t>
            </a:r>
            <a:r>
              <a:rPr lang="en-US" altLang="ko-KR" sz="1500" dirty="0">
                <a:solidFill>
                  <a:srgbClr val="111111"/>
                </a:solidFill>
                <a:latin typeface="Liberation Sans" charset="0"/>
              </a:rPr>
              <a:t> </a:t>
            </a:r>
            <a:endParaRPr lang="ko-KR" altLang="en-US" sz="1500" dirty="0"/>
          </a:p>
        </p:txBody>
      </p:sp>
      <p:sp>
        <p:nvSpPr>
          <p:cNvPr id="11" name="직사각형 10"/>
          <p:cNvSpPr/>
          <p:nvPr/>
        </p:nvSpPr>
        <p:spPr>
          <a:xfrm>
            <a:off x="4174815" y="3708139"/>
            <a:ext cx="1516441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500" dirty="0" smtClean="0">
                <a:solidFill>
                  <a:srgbClr val="111111"/>
                </a:solidFill>
                <a:latin typeface="Liberation Sans" charset="0"/>
              </a:rPr>
              <a:t>Ex. GET, POST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963411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5200" y="2695714"/>
            <a:ext cx="2540000" cy="2540000"/>
          </a:xfrm>
          <a:prstGeom prst="rect">
            <a:avLst/>
          </a:prstGeom>
        </p:spPr>
      </p:pic>
      <p:cxnSp>
        <p:nvCxnSpPr>
          <p:cNvPr id="6" name="Curved Connector 8"/>
          <p:cNvCxnSpPr>
            <a:stCxn id="4" idx="2"/>
          </p:cNvCxnSpPr>
          <p:nvPr/>
        </p:nvCxnSpPr>
        <p:spPr>
          <a:xfrm rot="5400000">
            <a:off x="4675239" y="2595753"/>
            <a:ext cx="12700" cy="5279922"/>
          </a:xfrm>
          <a:prstGeom prst="curved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9"/>
          <p:cNvSpPr txBox="1"/>
          <p:nvPr/>
        </p:nvSpPr>
        <p:spPr>
          <a:xfrm>
            <a:off x="3458031" y="5856392"/>
            <a:ext cx="2913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2. Response</a:t>
            </a:r>
            <a:r>
              <a:rPr lang="ko-KR" altLang="en-US" dirty="0" smtClean="0"/>
              <a:t/>
            </a:r>
            <a:r>
              <a:rPr lang="en-US" altLang="ko-KR" dirty="0" smtClean="0"/>
              <a:t/>
            </a:r>
          </a:p>
          <a:p>
            <a:pPr algn="ctr"/>
            <a:r>
              <a:rPr lang="ko-KR" altLang="en-US" dirty="0" smtClean="0"/>
              <a:t>Result</a:t>
            </a:r>
            <a:endParaRPr lang="en-US" altLang="ko-KR" dirty="0" smtClean="0"/>
          </a:p>
        </p:txBody>
      </p:sp>
      <p:cxnSp>
        <p:nvCxnSpPr>
          <p:cNvPr id="10" name="Curved Connector 8"/>
          <p:cNvCxnSpPr/>
          <p:nvPr/>
        </p:nvCxnSpPr>
        <p:spPr>
          <a:xfrm rot="5400000" flipH="1" flipV="1">
            <a:off x="4675239" y="55753"/>
            <a:ext cx="12700" cy="5279922"/>
          </a:xfrm>
          <a:prstGeom prst="curvedConnector3">
            <a:avLst>
              <a:gd name="adj1" fmla="val 1800000"/>
            </a:avLst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9"/>
          <p:cNvSpPr txBox="1"/>
          <p:nvPr/>
        </p:nvSpPr>
        <p:spPr>
          <a:xfrm>
            <a:off x="3974225" y="1701195"/>
            <a:ext cx="1880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 smtClean="0"/>
              <a:t>1. Request</a:t>
            </a:r>
            <a:r>
              <a:rPr lang="ko-KR" altLang="en-US" dirty="0" smtClean="0"/>
              <a:t/>
            </a:r>
            <a:r>
              <a:rPr lang="en-US" altLang="ko-KR" dirty="0" smtClean="0"/>
              <a:t/>
            </a:r>
          </a:p>
        </p:txBody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kumimoji="1" lang="en-US" altLang="ko-KR" dirty="0" smtClean="0"/>
              <a:t>REST What is an API?</a:t>
            </a:r>
            <a:r>
              <a:rPr kumimoji="1" lang="ko-KR" altLang="en-US" dirty="0" smtClean="0"/>
              <a:t/>
            </a:r>
            <a:r>
              <a:rPr kumimoji="1" lang="en-US" altLang="ko-KR" dirty="0" smtClean="0"/>
              <a:t/>
            </a:r>
            <a:endParaRPr kumimoji="1"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88" y="2924590"/>
            <a:ext cx="2275080" cy="2088598"/>
          </a:xfrm>
          <a:prstGeom prst="rect">
            <a:avLst/>
          </a:prstGeom>
        </p:spPr>
      </p:pic>
      <p:sp>
        <p:nvSpPr>
          <p:cNvPr id="12" name="직사각형 11"/>
          <p:cNvSpPr/>
          <p:nvPr/>
        </p:nvSpPr>
        <p:spPr>
          <a:xfrm>
            <a:off x="367375" y="1655175"/>
            <a:ext cx="2237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NL" altLang="ko-KR" dirty="0">
                <a:latin typeface="+mn-ea"/>
              </a:rPr>
              <a:t>Client - Server Architecture</a:t>
            </a:r>
            <a:r>
              <a:rPr lang="ko-KR" altLang="nl-NL" dirty="0">
                <a:latin typeface="+mn-ea"/>
              </a:rPr>
              <a:t/>
            </a:r>
            <a:endParaRPr lang="ko-KR" altLang="nl-NL" b="0" i="0" dirty="0"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7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22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Google Video Intelligence API</a:t>
            </a:r>
            <a:endParaRPr lang="en-US" altLang="ko-KR" sz="30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4282076" y="5600427"/>
            <a:ext cx="4413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smtClean="0">
                <a:latin typeface="Liberation Serif" charset="0"/>
                <a:ea typeface="Liberation Serif" charset="0"/>
                <a:cs typeface="Liberation Serif" charset="0"/>
                <a:hlinkClick r:id="rId2"/>
              </a:rPr>
              <a:t>https://cloud.google.com/video-intelligence/</a:t>
            </a:r>
            <a:endParaRPr lang="ko-KR" altLang="en-US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2" y="2497935"/>
            <a:ext cx="9144000" cy="2974221"/>
          </a:xfrm>
          <a:prstGeom prst="rect">
            <a:avLst/>
          </a:prstGeom>
        </p:spPr>
      </p:pic>
      <p:sp>
        <p:nvSpPr>
          <p:cNvPr id="9" name="직사각형 8"/>
          <p:cNvSpPr/>
          <p:nvPr/>
        </p:nvSpPr>
        <p:spPr>
          <a:xfrm>
            <a:off x="476336" y="1317385"/>
            <a:ext cx="821925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Liberation Sans" charset="0"/>
              <a:buChar char="•"/>
            </a:pPr>
            <a:r>
              <a:rPr lang="en-US" altLang="ko-KR" dirty="0">
                <a:latin typeface="Liberation Serif" charset="0"/>
                <a:ea typeface="Liberation Serif" charset="0"/>
                <a:cs typeface="Liberation Serif" charset="0"/>
              </a:rPr>
              <a:t>The API </a:t>
            </a:r>
            <a:r>
              <a:rPr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detects </a:t>
            </a:r>
            <a:r>
              <a:rPr lang="en-US" altLang="ko-KR" dirty="0">
                <a:latin typeface="Liberation Serif" charset="0"/>
                <a:ea typeface="Liberation Serif" charset="0"/>
                <a:cs typeface="Liberation Serif" charset="0"/>
              </a:rPr>
              <a:t>the video labels (objects within the video) as well as shot labels (description of the video events over time)</a:t>
            </a:r>
            <a:endParaRPr lang="ko-KR" altLang="en-US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423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85101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23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7104" y="2879017"/>
            <a:ext cx="8886267" cy="742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0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Hands-on-Labs </a:t>
            </a:r>
            <a:r>
              <a:rPr lang="en-US" altLang="ko-KR" sz="32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Google Video Intelligence</a:t>
            </a:r>
            <a:r>
              <a:rPr lang="en-US" altLang="ko-KR" sz="32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 API</a:t>
            </a:r>
            <a:endParaRPr lang="en-US" altLang="ko-KR" sz="32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5732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3851919" y="2276872"/>
            <a:ext cx="4939369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Google </a:t>
            </a:r>
            <a:r>
              <a:rPr lang="en-US" altLang="ko-KR" sz="28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Video Intelligence</a:t>
            </a: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 API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altLang="ko-KR" sz="2600" b="1" i="1" dirty="0" smtClean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000" i="1" dirty="0" err="1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KAIST_Video_Analytics.ipynb</a:t>
            </a:r>
            <a:endParaRPr lang="en-US" altLang="ko-KR" sz="2000" i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altLang="ko-KR" sz="2000" i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7" name="Picture 2" descr="Image result for hands on icon program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2429789"/>
            <a:ext cx="1800200" cy="1800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s3.amazonaws.com/keras.io/img/keras-logo-2018-large-1200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3306" y="309500"/>
            <a:ext cx="1507983" cy="4373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직사각형 1"/>
          <p:cNvSpPr/>
          <p:nvPr/>
        </p:nvSpPr>
        <p:spPr>
          <a:xfrm>
            <a:off x="0" y="4700612"/>
            <a:ext cx="8417859" cy="4580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dirty="0">
                <a:latin typeface="Liberation Serif" charset="0"/>
                <a:ea typeface="Liberation Serif" charset="0"/>
                <a:cs typeface="Liberation Serif" charset="0"/>
              </a:rPr>
              <a:t>URL: </a:t>
            </a:r>
            <a:r>
              <a:rPr lang="en-US" altLang="ko-KR" dirty="0">
                <a:latin typeface="Liberation Serif" charset="0"/>
                <a:ea typeface="Liberation Serif" charset="0"/>
                <a:cs typeface="Liberation Serif" charset="0"/>
                <a:hlinkClick r:id="rId4"/>
              </a:rPr>
              <a:t>https://</a:t>
            </a:r>
            <a:r>
              <a:rPr lang="en-US" altLang="ko-KR" dirty="0" smtClean="0">
                <a:latin typeface="Liberation Serif" charset="0"/>
                <a:ea typeface="Liberation Serif" charset="0"/>
                <a:cs typeface="Liberation Serif" charset="0"/>
                <a:hlinkClick r:id="rId4"/>
              </a:rPr>
              <a:t>bit.ly/2IOPeuI</a:t>
            </a:r>
            <a:r>
              <a:rPr lang="en-US" altLang="ko-KR" dirty="0" smtClean="0">
                <a:latin typeface="Liberation Serif" charset="0"/>
                <a:ea typeface="Liberation Serif" charset="0"/>
                <a:cs typeface="Liberation Serif" charset="0"/>
              </a:rPr>
              <a:t> </a:t>
            </a:r>
            <a:endParaRPr lang="en-US" altLang="ko-KR" i="1" dirty="0">
              <a:solidFill>
                <a:prstClr val="black"/>
              </a:solidFill>
              <a:latin typeface="Liberation Serif" charset="0"/>
              <a:ea typeface="Liberation Serif" charset="0"/>
              <a:cs typeface="Liberation Serif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4041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42" y="3632565"/>
            <a:ext cx="5396565" cy="2723786"/>
          </a:xfrm>
          <a:prstGeom prst="rect">
            <a:avLst/>
          </a:prstGeom>
        </p:spPr>
      </p:pic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25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Google </a:t>
            </a: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Drive Access on </a:t>
            </a:r>
            <a:r>
              <a:rPr lang="en-US" altLang="ko-KR" sz="2600" b="1" dirty="0" err="1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Colab</a:t>
            </a: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456415" y="1079302"/>
            <a:ext cx="8282472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First Step: Upload your data on Google Drive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99682" y="1649997"/>
            <a:ext cx="24398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http://</a:t>
            </a:r>
            <a:r>
              <a:rPr lang="ko-KR" altLang="en-US" dirty="0" smtClean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>drive.google.com</a:t>
            </a:r>
            <a:endParaRPr lang="en-US" altLang="ko-KR" dirty="0" smtClean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456415" y="2608562"/>
            <a:ext cx="8282472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Second Step: Enter Authentication Code on Google </a:t>
            </a:r>
            <a:r>
              <a:rPr lang="en-US" altLang="ko-KR" sz="2000" dirty="0" err="1" smtClean="0">
                <a:latin typeface="Liberation Serif" charset="0"/>
                <a:ea typeface="Liberation Serif" charset="0"/>
                <a:cs typeface="Liberation Serif" charset="0"/>
              </a:rPr>
              <a:t>Colab</a:t>
            </a:r>
            <a:endParaRPr lang="en-US" altLang="ko-KR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83558" y="5482157"/>
            <a:ext cx="269778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6435234" y="5358271"/>
            <a:ext cx="1358064" cy="5078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Go to </a:t>
            </a:r>
            <a:r>
              <a:rPr lang="en-US" altLang="ko-KR" dirty="0" err="1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Url</a:t>
            </a: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6442960" y="5752204"/>
            <a:ext cx="1476815" cy="4580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Type Code</a:t>
            </a:r>
            <a:endParaRPr lang="en-US" altLang="ko-KR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116812" y="5939217"/>
            <a:ext cx="5164526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910340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26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6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Check </a:t>
            </a:r>
            <a:r>
              <a:rPr lang="en-US" altLang="ko-KR" sz="2600" b="1" dirty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Data Available on Google Drive</a:t>
            </a:r>
          </a:p>
          <a:p>
            <a:pPr>
              <a:lnSpc>
                <a:spcPct val="150000"/>
              </a:lnSpc>
            </a:pPr>
            <a:endParaRPr lang="en-US" altLang="ko-KR" sz="26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20" name="TextBox 8"/>
          <p:cNvSpPr txBox="1"/>
          <p:nvPr/>
        </p:nvSpPr>
        <p:spPr>
          <a:xfrm>
            <a:off x="404328" y="1610199"/>
            <a:ext cx="82824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Type: !ls 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"/content/</a:t>
            </a:r>
            <a:r>
              <a:rPr lang="en-US" altLang="ko-KR" sz="2000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gdrive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/My Drive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/”</a:t>
            </a:r>
          </a:p>
          <a:p>
            <a:pPr marL="742950" lvl="1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This is root directory for Google Drive</a:t>
            </a: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endParaRPr lang="en-US" altLang="ko-KR" sz="20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For a specific folder, !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ls "/content/</a:t>
            </a:r>
            <a:r>
              <a:rPr lang="en-US" altLang="ko-KR" sz="2000" dirty="0" err="1">
                <a:latin typeface="Liberation Serif" panose="02020603050405020304" pitchFamily="18" charset="0"/>
                <a:cs typeface="Liberation Serif" panose="02020603050405020304" pitchFamily="18" charset="0"/>
              </a:rPr>
              <a:t>gdrive</a:t>
            </a:r>
            <a:r>
              <a:rPr lang="en-US" altLang="ko-KR" sz="20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/My Drive</a:t>
            </a: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/{Your Folder Name}”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4514" y="3753382"/>
            <a:ext cx="6642100" cy="16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6396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-3524" y="2585101"/>
            <a:ext cx="9147524" cy="1440160"/>
          </a:xfrm>
          <a:prstGeom prst="rect">
            <a:avLst/>
          </a:prstGeom>
          <a:gradFill flip="none" rotWithShape="1">
            <a:gsLst>
              <a:gs pos="100000">
                <a:schemeClr val="bg1">
                  <a:lumMod val="0"/>
                  <a:lumOff val="100000"/>
                </a:schemeClr>
              </a:gs>
              <a:gs pos="77000">
                <a:schemeClr val="accent2">
                  <a:lumMod val="20000"/>
                  <a:lumOff val="80000"/>
                </a:schemeClr>
              </a:gs>
              <a:gs pos="45000">
                <a:schemeClr val="accent2">
                  <a:lumMod val="20000"/>
                  <a:lumOff val="80000"/>
                </a:schemeClr>
              </a:gs>
              <a:gs pos="0">
                <a:schemeClr val="bg1">
                  <a:lumMod val="0"/>
                  <a:lumOff val="100000"/>
                </a:schemeClr>
              </a:gs>
            </a:gsLst>
            <a:lin ang="27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27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27104" y="2879017"/>
            <a:ext cx="8886267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r">
              <a:lnSpc>
                <a:spcPct val="150000"/>
              </a:lnSpc>
            </a:pPr>
            <a:r>
              <a:rPr lang="en-US" altLang="ko-KR" sz="30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Conclusion</a:t>
            </a:r>
            <a:endParaRPr lang="en-US" altLang="ko-KR" sz="30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767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9805CF-A1BB-403B-B716-9385F32BA917}" type="slidenum">
              <a:rPr lang="ko-KR" altLang="en-US" smtClean="0"/>
              <a:t>28</a:t>
            </a:fld>
            <a:endParaRPr lang="ko-KR" altLang="en-US"/>
          </a:p>
        </p:txBody>
      </p:sp>
      <p:cxnSp>
        <p:nvCxnSpPr>
          <p:cNvPr id="5" name="직선 연결선 14"/>
          <p:cNvCxnSpPr/>
          <p:nvPr/>
        </p:nvCxnSpPr>
        <p:spPr>
          <a:xfrm flipH="1">
            <a:off x="404328" y="908720"/>
            <a:ext cx="8291264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/>
          <p:cNvSpPr/>
          <p:nvPr/>
        </p:nvSpPr>
        <p:spPr>
          <a:xfrm>
            <a:off x="467544" y="144085"/>
            <a:ext cx="8219256" cy="7018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3000" b="1" dirty="0" smtClean="0">
                <a:solidFill>
                  <a:prstClr val="black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Let’s Cooperate with Deep Learning</a:t>
            </a:r>
            <a:endParaRPr lang="en-US" altLang="ko-KR" sz="3000" b="1" dirty="0">
              <a:solidFill>
                <a:prstClr val="black"/>
              </a:solidFill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04328" y="980728"/>
            <a:ext cx="82912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Liberation Sans" panose="020B0604020202020204" pitchFamily="34" charset="0"/>
              <a:buChar char="•"/>
            </a:pPr>
            <a:r>
              <a:rPr lang="en-US" altLang="ko-KR" sz="20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Analytic capability consists of human, computer, and human-computer cooperation.</a:t>
            </a:r>
            <a:endParaRPr lang="en-US" altLang="ko-KR" sz="2000" dirty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4499992" y="2132856"/>
            <a:ext cx="4320480" cy="36132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“In a freestyle chess tournament in 2005… The surprise came at the end. Who won? Not a grandmaster with a supercomputer, but actually two American amateurs using three relatively weak </a:t>
            </a:r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laptops … </a:t>
            </a:r>
          </a:p>
          <a:p>
            <a:pPr>
              <a:lnSpc>
                <a:spcPct val="130000"/>
              </a:lnSpc>
            </a:pPr>
            <a:endParaRPr lang="en-US" altLang="ko-KR" sz="1200" dirty="0" smtClean="0">
              <a:latin typeface="Liberation Serif" panose="02020603050405020304" pitchFamily="18" charset="0"/>
              <a:cs typeface="Liberation Serif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1600" dirty="0" smtClean="0">
                <a:latin typeface="Liberation Serif" panose="02020603050405020304" pitchFamily="18" charset="0"/>
                <a:cs typeface="Liberation Serif" panose="02020603050405020304" pitchFamily="18" charset="0"/>
              </a:rPr>
              <a:t>This </a:t>
            </a:r>
            <a:r>
              <a:rPr lang="en-US" altLang="ko-KR" sz="16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is an astonishing result: average men, average machines beating the best man, the best machine. And anyways, isn't it supposed to be man versus machine? </a:t>
            </a:r>
            <a:r>
              <a:rPr lang="en-US" altLang="ko-KR" sz="1600" b="1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Instead, it's about cooperation, and the right type of cooperation.</a:t>
            </a:r>
            <a:r>
              <a:rPr lang="en-US" altLang="ko-KR" sz="1600" dirty="0">
                <a:latin typeface="Liberation Serif" panose="02020603050405020304" pitchFamily="18" charset="0"/>
                <a:cs typeface="Liberation Serif" panose="02020603050405020304" pitchFamily="18" charset="0"/>
              </a:rPr>
              <a:t>”</a:t>
            </a:r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r="2387"/>
          <a:stretch/>
        </p:blipFill>
        <p:spPr>
          <a:xfrm>
            <a:off x="242506" y="2295299"/>
            <a:ext cx="4011410" cy="2429845"/>
          </a:xfrm>
          <a:prstGeom prst="rect">
            <a:avLst/>
          </a:prstGeom>
        </p:spPr>
      </p:pic>
      <p:sp>
        <p:nvSpPr>
          <p:cNvPr id="11" name="직사각형 10"/>
          <p:cNvSpPr/>
          <p:nvPr/>
        </p:nvSpPr>
        <p:spPr>
          <a:xfrm>
            <a:off x="574025" y="5086345"/>
            <a:ext cx="3348372" cy="43088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ko-KR" altLang="en-US" sz="1100" dirty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>https://</a:t>
            </a:r>
            <a:r>
              <a:rPr lang="ko-KR" altLang="en-US" sz="1100" dirty="0" smtClean="0">
                <a:solidFill>
                  <a:srgbClr val="222222"/>
                </a:solidFill>
                <a:latin typeface="Liberation Sans" panose="020B0604020202020204" pitchFamily="34" charset="0"/>
                <a:hlinkClick r:id="rId3"/>
              </a:rPr>
              <a:t>www.ted.com/talks/shyam_sankar_the_rise_of_human_computer_cooperation</a:t>
            </a:r>
            <a:r>
              <a:rPr lang="ko-KR" altLang="en-US" sz="1100" dirty="0" smtClean="0">
                <a:solidFill>
                  <a:srgbClr val="222222"/>
                </a:solidFill>
                <a:latin typeface="Liberation Sans" panose="020B0604020202020204" pitchFamily="34" charset="0"/>
              </a:rPr>
              <a:t> </a:t>
            </a:r>
            <a:endParaRPr lang="ko-KR" altLang="en-US" sz="1100" dirty="0">
              <a:solidFill>
                <a:srgbClr val="222222"/>
              </a:solidFill>
              <a:latin typeface="Liberation Sans" panose="020B0604020202020204" pitchFamily="34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436096" y="5857527"/>
            <a:ext cx="32507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smtClean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- </a:t>
            </a:r>
            <a:r>
              <a:rPr lang="en-US" altLang="ko-KR" sz="1400" dirty="0" err="1" smtClean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Shyam</a:t>
            </a:r>
            <a:r>
              <a:rPr lang="en-US" altLang="ko-KR" sz="1400" dirty="0" smtClean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 </a:t>
            </a:r>
            <a:r>
              <a:rPr lang="en-US" altLang="ko-KR" sz="1400" dirty="0" err="1" smtClean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Sankar</a:t>
            </a:r>
            <a:r>
              <a:rPr lang="en-US" altLang="ko-KR" sz="1400" dirty="0" smtClean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 </a:t>
            </a:r>
            <a:r>
              <a:rPr lang="en-US" altLang="ko-KR" sz="1400" i="1" dirty="0" smtClean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at </a:t>
            </a:r>
            <a:r>
              <a:rPr lang="en-US" altLang="ko-KR" sz="1400" dirty="0" err="1" smtClean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TEDGlobal</a:t>
            </a:r>
            <a:r>
              <a:rPr lang="en-US" altLang="ko-KR" sz="1400" dirty="0" smtClean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 </a:t>
            </a:r>
            <a:r>
              <a:rPr lang="en-US" altLang="ko-KR" sz="1400" dirty="0">
                <a:solidFill>
                  <a:srgbClr val="111111"/>
                </a:solidFill>
                <a:latin typeface="Liberation Serif" panose="02020603050405020304" pitchFamily="18" charset="0"/>
                <a:cs typeface="Liberation Serif" panose="02020603050405020304" pitchFamily="18" charset="0"/>
              </a:rPr>
              <a:t>2012</a:t>
            </a:r>
            <a:endParaRPr lang="en-US" altLang="ko-KR" sz="1400" b="0" i="0" dirty="0">
              <a:solidFill>
                <a:srgbClr val="111111"/>
              </a:solidFill>
              <a:effectLst/>
              <a:latin typeface="Liberation Serif" panose="02020603050405020304" pitchFamily="18" charset="0"/>
              <a:cs typeface="Liberation Serif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69852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7544" y="4305290"/>
            <a:ext cx="468052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4000" spc="-150" dirty="0" smtClean="0">
                <a:solidFill>
                  <a:schemeClr val="bg1"/>
                </a:solidFill>
                <a:latin typeface="Liberation Sans" pitchFamily="18" charset="-127"/>
                <a:ea typeface="Liberation Sans" pitchFamily="18" charset="-127"/>
              </a:rPr>
              <a:t>Thank you.</a:t>
            </a:r>
            <a:r>
              <a:rPr lang="en-US" altLang="ko-KR" sz="4000" spc="-150" dirty="0" smtClean="0">
                <a:solidFill>
                  <a:schemeClr val="bg1"/>
                </a:solidFill>
                <a:latin typeface="Liberation Sans" pitchFamily="18" charset="-127"/>
                <a:ea typeface="Liberation Sans" pitchFamily="18" charset="-127"/>
              </a:rPr>
              <a:t/>
            </a:r>
          </a:p>
        </p:txBody>
      </p:sp>
      <p:sp>
        <p:nvSpPr>
          <p:cNvPr id="6" name="직사각형 5"/>
          <p:cNvSpPr/>
          <p:nvPr/>
        </p:nvSpPr>
        <p:spPr>
          <a:xfrm>
            <a:off x="323528" y="332656"/>
            <a:ext cx="5760640" cy="477995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7544" y="825995"/>
            <a:ext cx="5472608" cy="318548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endParaRPr lang="en-US" altLang="ko-KR" sz="44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r>
              <a:rPr lang="en-US" altLang="ko-KR" sz="44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Thank you </a:t>
            </a:r>
            <a:r>
              <a:rPr lang="en-US" altLang="ko-KR" sz="44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  <a:sym typeface="Wingdings"/>
              </a:rPr>
              <a:t></a:t>
            </a:r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endParaRPr lang="en-US" altLang="ko-KR" sz="4400" spc="-150" dirty="0" smtClean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  <a:p>
            <a:pPr algn="r"/>
            <a:r>
              <a:rPr lang="en-US" altLang="ko-KR" sz="2500" spc="-150" dirty="0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Contact Info: </a:t>
            </a:r>
            <a:r>
              <a:rPr lang="en-US" altLang="ko-KR" sz="2500" spc="-150" dirty="0" err="1" smtClean="0">
                <a:solidFill>
                  <a:schemeClr val="bg1"/>
                </a:solidFill>
                <a:latin typeface="Liberation Serif" panose="02020603050405020304" pitchFamily="18" charset="0"/>
                <a:ea typeface="나눔고딕" panose="020D0604000000000000" pitchFamily="50" charset="-127"/>
                <a:cs typeface="Liberation Serif" panose="02020603050405020304" pitchFamily="18" charset="0"/>
              </a:rPr>
              <a:t>quantic.jh@gmail.com</a:t>
            </a:r>
            <a:endParaRPr lang="en-US" altLang="ko-KR" sz="2500" spc="-150" dirty="0">
              <a:solidFill>
                <a:schemeClr val="bg1"/>
              </a:solidFill>
              <a:latin typeface="Liberation Serif" panose="02020603050405020304" pitchFamily="18" charset="0"/>
              <a:ea typeface="나눔고딕" panose="020D0604000000000000" pitchFamily="50" charset="-127"/>
              <a:cs typeface="Liberation Serif" panose="02020603050405020304" pitchFamily="18" charset="0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AD8A1D-F5E3-4971-B0EE-D6B8EE5A56B1}" type="slidenum">
              <a:rPr lang="ko-KR" altLang="en-US" smtClean="0"/>
              <a:pPr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148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 smtClean="0">
                <a:latin typeface="Liberation Serif" charset="0"/>
                <a:ea typeface="Liberation Serif" charset="0"/>
                <a:cs typeface="Liberation Serif" charset="0"/>
              </a:rPr>
              <a:t>Python</a:t>
            </a:r>
          </a:p>
          <a:p>
            <a:pPr lvl="1"/>
            <a:r>
              <a:rPr lang="ko-KR" altLang="en-US" sz="1600" dirty="0">
                <a:latin typeface="Liberation Serif" charset="0"/>
                <a:ea typeface="Liberation Serif" charset="0"/>
                <a:cs typeface="Liberation Serif" charset="0"/>
              </a:rPr>
              <a:t>Eunjung Park, Introduction to Python (on Windows)</a:t>
            </a:r>
            <a:r>
              <a:rPr lang="en-US" altLang="ko-KR" sz="1600" dirty="0">
                <a:latin typeface="Liberation Serif" charset="0"/>
                <a:ea typeface="Liberation Serif" charset="0"/>
                <a:cs typeface="Liberation Serif" charset="0"/>
              </a:rPr>
              <a:t/>
            </a:r>
            <a:r>
              <a:rPr lang="en-US" altLang="ko-KR" sz="1600" dirty="0">
                <a:latin typeface="Liberation Serif" charset="0"/>
                <a:ea typeface="Liberation Serif" charset="0"/>
                <a:cs typeface="Liberation Serif" charset="0"/>
                <a:hlinkClick r:id="rId2"/>
              </a:rPr>
              <a:t/>
            </a:r>
            <a:r>
              <a:rPr lang="en-US" altLang="ko-KR" sz="1600" dirty="0" smtClean="0">
                <a:latin typeface="Liberation Serif" charset="0"/>
                <a:ea typeface="Liberation Serif" charset="0"/>
                <a:cs typeface="Liberation Serif" charset="0"/>
                <a:hlinkClick r:id="rId2"/>
              </a:rPr>
              <a:t/>
            </a:r>
            <a:endParaRPr lang="en-US" altLang="ko-KR" sz="1600" dirty="0" smtClean="0">
              <a:latin typeface="Liberation Serif" charset="0"/>
              <a:ea typeface="Liberation Serif" charset="0"/>
              <a:cs typeface="Liberation Serif" charset="0"/>
            </a:endParaRPr>
          </a:p>
          <a:p>
            <a:pPr lvl="1"/>
            <a:r>
              <a:rPr lang="ko-KR" altLang="en-US" sz="1600" dirty="0" smtClean="0">
                <a:latin typeface="Liberation Serif" charset="0"/>
                <a:ea typeface="Liberation Serif" charset="0"/>
                <a:cs typeface="Liberation Serif" charset="0"/>
              </a:rPr>
              <a:t>Taehoon Kim, Python in 140 Minutes</a:t>
            </a:r>
            <a:r>
              <a:rPr lang="en-US" altLang="ko-KR" sz="1600" dirty="0" smtClean="0">
                <a:latin typeface="Liberation Serif" charset="0"/>
                <a:ea typeface="Liberation Serif" charset="0"/>
                <a:cs typeface="Liberation Serif" charset="0"/>
              </a:rPr>
              <a:t/>
            </a:r>
            <a:r>
              <a:rPr lang="ko-KR" altLang="en-US" sz="1600" dirty="0" smtClean="0">
                <a:latin typeface="Liberation Serif" charset="0"/>
                <a:ea typeface="Liberation Serif" charset="0"/>
                <a:cs typeface="Liberation Serif" charset="0"/>
              </a:rPr>
              <a:t/>
            </a:r>
            <a:r>
              <a:rPr lang="en-US" altLang="ko-KR" sz="1600" dirty="0" smtClean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/>
            </a:r>
            <a:r>
              <a:rPr lang="ko-KR" altLang="en-US" sz="1600" dirty="0" smtClean="0">
                <a:latin typeface="Liberation Serif" charset="0"/>
                <a:ea typeface="Liberation Serif" charset="0"/>
                <a:cs typeface="Liberation Serif" charset="0"/>
                <a:hlinkClick r:id="rId3"/>
              </a:rPr>
              <a:t/>
            </a:r>
            <a:endParaRPr lang="en-US" altLang="ko-KR" sz="1600" dirty="0">
              <a:latin typeface="Liberation Serif" charset="0"/>
              <a:ea typeface="Liberation Serif" charset="0"/>
              <a:cs typeface="Liberation Serif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D331A-EA5E-416E-98F2-1AD6A05AF53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rlito" panose="020F03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erif"/>
        <a:font script="Hebr" typeface="Liberation Serif"/>
        <a:font script="Thai" typeface="Liberation Serif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erif"/>
        <a:font script="Uigh" typeface="Liberation Sans"/>
        <a:font script="Geor" typeface="Liberation Serif"/>
      </a:majorFont>
      <a:minorFont>
        <a:latin typeface="Carlito" panose="020F05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ans"/>
        <a:font script="Hebr" typeface="Liberation Sans"/>
        <a:font script="Thai" typeface="Liberation Sans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ans"/>
        <a:font script="Uigh" typeface="Liberation Sans"/>
        <a:font script="Geor" typeface="Liberation Serif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ans" panose="020F03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erif"/>
        <a:font script="Hebr" typeface="Liberation Serif"/>
        <a:font script="Thai" typeface="Liberation Serif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erif"/>
        <a:font script="Uigh" typeface="Liberation Sans"/>
        <a:font script="Geor" typeface="Liberation Serif"/>
      </a:majorFont>
      <a:minorFont>
        <a:latin typeface="Liberation Sans" panose="020F0502020204030204"/>
        <a:ea typeface=""/>
        <a:cs typeface=""/>
        <a:font script="Jpan" typeface="Liberation Sans"/>
        <a:font script="Hang" typeface="Liberation Sans"/>
        <a:font script="Hans" typeface="Liberation Sans"/>
        <a:font script="Hant" typeface="Liberation Sans"/>
        <a:font script="Arab" typeface="Liberation Sans"/>
        <a:font script="Hebr" typeface="Liberation Sans"/>
        <a:font script="Thai" typeface="Liberation Sans"/>
        <a:font script="Ethi" typeface="Liberation Sans"/>
        <a:font script="Beng" typeface="Liberation Sans"/>
        <a:font script="Gujr" typeface="Liberation Sans"/>
        <a:font script="Khmr" typeface="Liberation Sans"/>
        <a:font script="Knda" typeface="Liberation Sans"/>
        <a:font script="Guru" typeface="Liberation Sans"/>
        <a:font script="Cans" typeface="Liberation Sans"/>
        <a:font script="Cher" typeface="Liberation Serif"/>
        <a:font script="Yiii" typeface="Liberation Sans"/>
        <a:font script="Tibt" typeface="Liberation Sans"/>
        <a:font script="Thaa" typeface="Liberation Sans"/>
        <a:font script="Deva" typeface="Liberation Sans"/>
        <a:font script="Telu" typeface="Liberation Sans"/>
        <a:font script="Taml" typeface="Liberation Sans"/>
        <a:font script="Syrc" typeface="Liberation Sans"/>
        <a:font script="Orya" typeface="Liberation Sans"/>
        <a:font script="Mlym" typeface="Liberation Sans"/>
        <a:font script="Laoo" typeface="Liberation Sans"/>
        <a:font script="Sinh" typeface="Liberation Sans"/>
        <a:font script="Mong" typeface="Liberation Sans"/>
        <a:font script="Viet" typeface="Liberation Sans"/>
        <a:font script="Uigh" typeface="Liberation Sans"/>
        <a:font script="Geor" typeface="Liberation Serif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3090</TotalTime>
  <Words>632</Words>
  <Application>Microsoft Macintosh PowerPoint</Application>
  <PresentationFormat>화면 슬라이드 쇼(4:3)</PresentationFormat>
  <Paragraphs>208</Paragraphs>
  <Slides>30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1" baseType="lpstr">
      <vt:lpstr>나눔고딕</vt:lpstr>
      <vt:lpstr>나눔명조</vt:lpstr>
      <vt:lpstr>맑은 고딕</vt:lpstr>
      <vt:lpstr>Calibri</vt:lpstr>
      <vt:lpstr>Calibri Light</vt:lpstr>
      <vt:lpstr>Consolas</vt:lpstr>
      <vt:lpstr>Helvetica</vt:lpstr>
      <vt:lpstr>Times New Roman</vt:lpstr>
      <vt:lpstr>Wingdings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패키지 설치</vt:lpstr>
      <vt:lpstr>패키지 사용</vt:lpstr>
      <vt:lpstr>열</vt:lpstr>
      <vt:lpstr>딕셔너리</vt:lpstr>
      <vt:lpstr>열 + 딕셔너리</vt:lpstr>
      <vt:lpstr>String concatenation</vt:lpstr>
      <vt:lpstr>String substitution</vt:lpstr>
      <vt:lpstr>루프</vt:lpstr>
      <vt:lpstr>루프</vt:lpstr>
      <vt:lpstr>함수</vt:lpstr>
      <vt:lpstr>파일 입력</vt:lpstr>
      <vt:lpstr>딕셔너리 + 열을 테이블로</vt:lpstr>
      <vt:lpstr>테이블 CSV로 저장하기</vt:lpstr>
      <vt:lpstr>PowerPoint 프레젠테이션</vt:lpstr>
      <vt:lpstr>API란?</vt:lpstr>
      <vt:lpstr>REST API란?</vt:lpstr>
      <vt:lpstr>REST API란?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참고자료</vt:lpstr>
    </vt:vector>
  </TitlesOfParts>
  <Company/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Jongho Kim</dc:creator>
  <cp:lastModifiedBy>Jongho Kim</cp:lastModifiedBy>
  <cp:revision>357</cp:revision>
  <cp:lastPrinted>2019-04-23T11:37:37Z</cp:lastPrinted>
  <dcterms:created xsi:type="dcterms:W3CDTF">2017-11-16T01:26:47Z</dcterms:created>
  <dcterms:modified xsi:type="dcterms:W3CDTF">2019-04-23T11:59:37Z</dcterms:modified>
</cp:coreProperties>
</file>