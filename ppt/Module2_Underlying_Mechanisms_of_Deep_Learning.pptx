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439" r:id="rId3"/>
    <p:sldId id="472" r:id="rId4"/>
    <p:sldId id="473" r:id="rId5"/>
    <p:sldId id="474" r:id="rId6"/>
    <p:sldId id="475" r:id="rId7"/>
    <p:sldId id="556" r:id="rId8"/>
    <p:sldId id="490" r:id="rId9"/>
    <p:sldId id="491" r:id="rId10"/>
    <p:sldId id="492" r:id="rId11"/>
    <p:sldId id="493" r:id="rId12"/>
    <p:sldId id="480" r:id="rId13"/>
    <p:sldId id="481" r:id="rId14"/>
    <p:sldId id="482" r:id="rId15"/>
    <p:sldId id="557" r:id="rId16"/>
    <p:sldId id="552" r:id="rId17"/>
    <p:sldId id="494" r:id="rId18"/>
    <p:sldId id="495" r:id="rId19"/>
    <p:sldId id="496" r:id="rId20"/>
    <p:sldId id="527" r:id="rId21"/>
    <p:sldId id="522" r:id="rId22"/>
    <p:sldId id="541" r:id="rId23"/>
    <p:sldId id="542" r:id="rId24"/>
    <p:sldId id="544" r:id="rId25"/>
    <p:sldId id="546" r:id="rId26"/>
    <p:sldId id="548" r:id="rId27"/>
    <p:sldId id="545" r:id="rId28"/>
    <p:sldId id="551" r:id="rId29"/>
    <p:sldId id="550" r:id="rId30"/>
    <p:sldId id="526" r:id="rId31"/>
    <p:sldId id="265" r:id="rId32"/>
    <p:sldId id="553" r:id="rId33"/>
    <p:sldId id="554" r:id="rId34"/>
    <p:sldId id="555" r:id="rId3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75367" autoAdjust="0"/>
  </p:normalViewPr>
  <p:slideViewPr>
    <p:cSldViewPr snapToGrid="0">
      <p:cViewPr>
        <p:scale>
          <a:sx n="90" d="100"/>
          <a:sy n="90" d="100"/>
        </p:scale>
        <p:origin x="211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1424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1CA79-2599-4315-B6AE-5F2874CAD386}" type="datetimeFigureOut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A2357-0992-46ED-803D-80E7A74122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88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53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653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06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60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923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379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516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364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815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8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418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813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006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047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19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455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48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524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6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282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4864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74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8720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FA1A34C3-F8C9-4591-BE1C-D28C4C0893F6}" type="datetime1">
              <a:rPr lang="ko-KR" altLang="en-US" smtClean="0"/>
              <a:pPr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1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313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5E91-9024-4D87-92B9-83A81129C7D2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바닥글 개체 틀 1"/>
          <p:cNvSpPr txBox="1">
            <a:spLocks/>
          </p:cNvSpPr>
          <p:nvPr userDrawn="1"/>
        </p:nvSpPr>
        <p:spPr>
          <a:xfrm>
            <a:off x="2032000" y="6453336"/>
            <a:ext cx="557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2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35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570C1E5E-8BFE-4E18-8083-E0D4A25AA34A}" type="datetime1">
              <a:rPr lang="ko-KR" altLang="en-US" smtClean="0"/>
              <a:pPr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861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3A16-2ED4-4195-BFB1-1276CB5AFB92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900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A459-E99E-4D1B-82DC-E473DF187DD5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2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593B-247B-4BBF-97D4-61F6106A9158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097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32513548-F093-49F5-8517-C9434CD0DB32}" type="datetime1">
              <a:rPr lang="ko-KR" altLang="en-US" smtClean="0"/>
              <a:pPr/>
              <a:t>2019. 4. 23.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167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B121-40C8-43C4-BF9D-A7A65A074920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93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092-D82B-4F3C-8DD1-5440BBC71CF7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32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A81A-6B3D-43C6-A3F0-46B6A4C7DF9B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0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ED7BF-6143-4204-8B36-C148EBB97875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591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A94D3-974E-418C-8C29-54198149C10E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10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Liberation Sans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0.png"/><Relationship Id="rId4" Type="http://schemas.openxmlformats.org/officeDocument/2006/relationships/image" Target="../media/image130.png"/><Relationship Id="rId5" Type="http://schemas.openxmlformats.org/officeDocument/2006/relationships/image" Target="../media/image70.png"/><Relationship Id="rId6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gif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gradschoolstory.net/changhyun/%EC%97%B0%EA%B5%AC%EC%99%80-%EC%9E%A5%EB%B9%84%EB%B3%91/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hyperlink" Target="http://gradschoolstory.net/changhyun/%EC%97%B0%EA%B5%AC%EC%99%80-%EC%9E%A5%EB%B9%84%EB%B3%91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setosa.io/ev/image-kernels/" TargetMode="Externa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hyperlink" Target="http://jaejunyoo.blogspot.com/2017/01/backpropagation.html" TargetMode="External"/><Relationship Id="rId5" Type="http://schemas.openxmlformats.org/officeDocument/2006/relationships/image" Target="../media/image9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jaejunyoo.blogspot.com/2017/01/backpropagation.html" TargetMode="External"/><Relationship Id="rId4" Type="http://schemas.openxmlformats.org/officeDocument/2006/relationships/image" Target="../media/image29.png"/><Relationship Id="rId5" Type="http://schemas.openxmlformats.org/officeDocument/2006/relationships/image" Target="../media/image19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jaejunyoo.blogspot.com/2017/01/backpropagation.html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51520" y="332656"/>
            <a:ext cx="6408712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6" name="부제목 2"/>
          <p:cNvSpPr>
            <a:spLocks noGrp="1"/>
          </p:cNvSpPr>
          <p:nvPr>
            <p:ph type="subTitle" idx="1"/>
          </p:nvPr>
        </p:nvSpPr>
        <p:spPr>
          <a:xfrm>
            <a:off x="323528" y="3238500"/>
            <a:ext cx="6192688" cy="1448668"/>
          </a:xfrm>
        </p:spPr>
        <p:txBody>
          <a:bodyPr>
            <a:noAutofit/>
          </a:bodyPr>
          <a:lstStyle/>
          <a:p>
            <a:pPr algn="r"/>
            <a:endParaRPr lang="en-US" altLang="ko-KR" sz="1800" spc="-3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Jongho Kim</a:t>
            </a:r>
            <a:endParaRPr lang="ko-KR" altLang="en-US" sz="1800" spc="-3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December &amp; </a:t>
            </a:r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Company Inc.</a:t>
            </a:r>
          </a:p>
          <a:p>
            <a:pPr algn="r"/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Spring,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872" y="404664"/>
            <a:ext cx="6408712" cy="31547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Business </a:t>
            </a:r>
            <a:r>
              <a:rPr lang="en-US" altLang="ko-KR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Analytics</a:t>
            </a:r>
            <a:r>
              <a:rPr lang="ko-KR" altLang="en-US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(</a:t>
            </a: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IM561)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>
              <a:lnSpc>
                <a:spcPct val="150000"/>
              </a:lnSpc>
            </a:pPr>
            <a:r>
              <a:rPr lang="en-US" altLang="ko-KR" sz="200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Module2. </a:t>
            </a:r>
            <a:r>
              <a:rPr lang="en-US" altLang="ko-KR" sz="20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Underlying </a:t>
            </a:r>
            <a:r>
              <a:rPr lang="en-US" altLang="ko-KR" sz="20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Mechanisms of Deep Learning</a:t>
            </a:r>
          </a:p>
          <a:p>
            <a:pPr algn="r">
              <a:lnSpc>
                <a:spcPct val="150000"/>
              </a:lnSpc>
            </a:pPr>
            <a:endParaRPr lang="en-US" altLang="ko-KR" sz="500" b="1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32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Intelligent Video Analytics </a:t>
            </a:r>
          </a:p>
          <a:p>
            <a:pPr algn="r"/>
            <a:r>
              <a:rPr lang="en-US" altLang="ko-KR" sz="32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with Deep Learning</a:t>
            </a:r>
          </a:p>
        </p:txBody>
      </p:sp>
      <p:sp>
        <p:nvSpPr>
          <p:cNvPr id="8" name="텍스트 상자 7"/>
          <p:cNvSpPr txBox="1"/>
          <p:nvPr/>
        </p:nvSpPr>
        <p:spPr>
          <a:xfrm>
            <a:off x="146571" y="5903033"/>
            <a:ext cx="8501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 smtClean="0">
                <a:latin typeface="Liberation Serif" charset="0"/>
                <a:ea typeface="Liberation Serif" charset="0"/>
                <a:cs typeface="Liberation Serif" charset="0"/>
              </a:rPr>
              <a:t>Note. This content mainly refers to the summer session of KAIST organized by </a:t>
            </a:r>
            <a:r>
              <a:rPr kumimoji="1" lang="en-US" altLang="ko-KR" sz="1600" dirty="0" err="1" smtClean="0">
                <a:latin typeface="Liberation Serif" charset="0"/>
                <a:ea typeface="Liberation Serif" charset="0"/>
                <a:cs typeface="Liberation Serif" charset="0"/>
              </a:rPr>
              <a:t>Jiyong</a:t>
            </a:r>
            <a:r>
              <a:rPr kumimoji="1" lang="en-US" altLang="ko-KR" sz="1600" dirty="0" smtClean="0">
                <a:latin typeface="Liberation Serif" charset="0"/>
                <a:ea typeface="Liberation Serif" charset="0"/>
                <a:cs typeface="Liberation Serif" charset="0"/>
              </a:rPr>
              <a:t> Park(2018)</a:t>
            </a:r>
            <a:endParaRPr kumimoji="1" lang="ko-KR" altLang="en-US" sz="16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9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85101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7104" y="2879017"/>
            <a:ext cx="8886267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28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Module2. </a:t>
            </a:r>
            <a:r>
              <a:rPr lang="en-US" altLang="ko-KR" sz="28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Underlying Mechanisms of Deep Learning</a:t>
            </a:r>
          </a:p>
        </p:txBody>
      </p:sp>
    </p:spTree>
    <p:extLst>
      <p:ext uri="{BB962C8B-B14F-4D97-AF65-F5344CB8AC3E}">
        <p14:creationId xmlns:p14="http://schemas.microsoft.com/office/powerpoint/2010/main" val="121948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Intuitive Understanding of Deep Learning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6158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What is deep learning?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Deep learning is “</a:t>
            </a:r>
            <a:r>
              <a:rPr lang="en-US" altLang="ko-KR" b="1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Representation Learning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” to learn and discover how to represent features of data. </a:t>
            </a: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(Here, representation means a machine-understandable format)</a:t>
            </a:r>
            <a:endParaRPr lang="en-US" altLang="ko-KR" sz="1600" i="1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103"/>
          <a:stretch/>
        </p:blipFill>
        <p:spPr>
          <a:xfrm>
            <a:off x="323528" y="3262875"/>
            <a:ext cx="3680849" cy="232636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5" y="2977853"/>
            <a:ext cx="4664199" cy="304343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535" y="2548815"/>
            <a:ext cx="1991753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i="1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How to draw faces?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2197" y="2548815"/>
            <a:ext cx="199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i="1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How to represent faces?</a:t>
            </a:r>
          </a:p>
        </p:txBody>
      </p:sp>
    </p:spTree>
    <p:extLst>
      <p:ext uri="{BB962C8B-B14F-4D97-AF65-F5344CB8AC3E}">
        <p14:creationId xmlns:p14="http://schemas.microsoft.com/office/powerpoint/2010/main" val="139847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Intuitive Understanding of Deep Learning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Why important to well-represent the features of data?</a:t>
            </a:r>
            <a:endParaRPr lang="en-US" altLang="ko-KR" sz="2000" dirty="0" smtClean="0">
              <a:solidFill>
                <a:srgbClr val="FF0000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What needs to well-represent the features of data?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Why is deep learning outstanding at representation learning?</a:t>
            </a:r>
          </a:p>
        </p:txBody>
      </p:sp>
    </p:spTree>
    <p:extLst>
      <p:ext uri="{BB962C8B-B14F-4D97-AF65-F5344CB8AC3E}">
        <p14:creationId xmlns:p14="http://schemas.microsoft.com/office/powerpoint/2010/main" val="179308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Intuitive Understanding of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40956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Why important to well-represent the features of data?</a:t>
            </a: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What needs to well-represent the features of data?</a:t>
            </a:r>
            <a:endParaRPr lang="en-US" altLang="ko-KR" sz="1400" dirty="0">
              <a:solidFill>
                <a:srgbClr val="FF0000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2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Why is deep learning outstanding at representation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7007" y="1074913"/>
            <a:ext cx="3422648" cy="269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Ch1. Representational Learning</a:t>
            </a:r>
          </a:p>
          <a:p>
            <a:pPr>
              <a:lnSpc>
                <a:spcPct val="150000"/>
              </a:lnSpc>
            </a:pPr>
            <a:endParaRPr lang="en-US" altLang="ko-KR" sz="1600" dirty="0" smtClean="0">
              <a:solidFill>
                <a:srgbClr val="C00000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rgbClr val="C00000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Ch2. Artificial Neural Networks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rgbClr val="C00000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>
              <a:lnSpc>
                <a:spcPct val="270000"/>
              </a:lnSpc>
            </a:pPr>
            <a:r>
              <a:rPr lang="en-US" altLang="ko-KR" sz="1600" dirty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Ch3. Deep Learning Algorithms </a:t>
            </a:r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4283968" y="2564904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4291898" y="1297578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4307778" y="3474542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4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-3524" y="2842472"/>
            <a:ext cx="78878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Ch1. Representational Learning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78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AutoShape 2" descr="https://qph.fs.quoracdn.net/main-qimg-04bd679c754d93adfa0ab0000c0a0984.webp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89" y="2214334"/>
            <a:ext cx="4241330" cy="1230993"/>
          </a:xfrm>
          <a:prstGeom prst="rect">
            <a:avLst/>
          </a:prstGeom>
        </p:spPr>
      </p:pic>
      <p:cxnSp>
        <p:nvCxnSpPr>
          <p:cNvPr id="10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67544" y="258388"/>
            <a:ext cx="821925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What is the meaning of Well-Representation of the Data Feature?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404328" y="980728"/>
            <a:ext cx="841614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First, let's look at an example of what a Representation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is: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How can you distinguish the objects?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87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AutoShape 2" descr="https://qph.fs.quoracdn.net/main-qimg-04bd679c754d93adfa0ab0000c0a0984.webp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89" y="2214334"/>
            <a:ext cx="4241330" cy="1230993"/>
          </a:xfrm>
          <a:prstGeom prst="rect">
            <a:avLst/>
          </a:prstGeom>
        </p:spPr>
      </p:pic>
      <p:cxnSp>
        <p:nvCxnSpPr>
          <p:cNvPr id="10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67544" y="258388"/>
            <a:ext cx="821925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What is the meaning of Well-Representation of the Data Feature?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404328" y="980728"/>
            <a:ext cx="841614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First, let's look at an example of what a Representation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is: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If you try to solve the problem of Classify the following shape, the number of corners can be used as a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Representation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Square: 4 corner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Triangle: 3 corner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Circle: 0 corner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573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9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258388"/>
            <a:ext cx="821925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What is the meaning of Well-Representation of the Data Feature?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196" y="1959457"/>
            <a:ext cx="4325528" cy="246723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89086" y="1042787"/>
            <a:ext cx="819973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ko-KR" altLang="en-US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But how do we cope if this shape comes in</a:t>
            </a:r>
            <a:r>
              <a:rPr lang="ko-KR" altLang="en-US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?</a:t>
            </a: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You need great expertise in good representation, and Deep Learning automatically learns this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representation</a:t>
            </a:r>
            <a:endParaRPr lang="ko-KR" altLang="en-US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7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Should We Care about Learning Representation?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881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The performance of machine learning methods is heavily dependent on the choice of data representation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Conventional machine-learning techniques were limited in their ability to process natural data in their raw form. </a:t>
            </a:r>
          </a:p>
        </p:txBody>
      </p:sp>
    </p:spTree>
    <p:extLst>
      <p:ext uri="{BB962C8B-B14F-4D97-AF65-F5344CB8AC3E}">
        <p14:creationId xmlns:p14="http://schemas.microsoft.com/office/powerpoint/2010/main" val="142437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Should We Care about Learning Representation?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881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Deep-learning methods are representation-learning methods with multiple levels of representation from a concrete level to slightly more abstract level. 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Very complex functions can be learned by learning representation using Deep-learning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3074" name="Picture 2" descr="ultiple levels of representation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2267702"/>
            <a:ext cx="5447211" cy="286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03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-3524" y="2842472"/>
            <a:ext cx="78878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Ch2. </a:t>
            </a:r>
            <a:r>
              <a:rPr lang="en-US" altLang="ko-KR" sz="32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Artificial Neural </a:t>
            </a: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Networks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6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Neural Networks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881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Artificial neural network mimics the human brain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While neural network-based algorithms for classification or regression may be useful for the purpose of artificial intelligence (AI), neural network itself has nothing to do with.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Single neuron is activated (=1) or not (=0).</a:t>
            </a:r>
          </a:p>
        </p:txBody>
      </p:sp>
      <p:pic>
        <p:nvPicPr>
          <p:cNvPr id="1026" name="Picture 2" descr="neur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72" y="3348955"/>
            <a:ext cx="857250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44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Capacity of Neural Networks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881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Linearly separable problems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Non-linearly separable problems</a:t>
            </a:r>
            <a:endParaRPr lang="en-US" altLang="ko-KR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r="66569"/>
          <a:stretch/>
        </p:blipFill>
        <p:spPr>
          <a:xfrm>
            <a:off x="1490377" y="1641868"/>
            <a:ext cx="1483160" cy="1637023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4"/>
          <a:srcRect r="52654"/>
          <a:stretch/>
        </p:blipFill>
        <p:spPr>
          <a:xfrm>
            <a:off x="3286983" y="3940029"/>
            <a:ext cx="2382384" cy="2344287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3"/>
          <a:srcRect l="33294" r="34583"/>
          <a:stretch/>
        </p:blipFill>
        <p:spPr>
          <a:xfrm>
            <a:off x="3765625" y="1641867"/>
            <a:ext cx="1425100" cy="1637023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3"/>
          <a:srcRect l="65554"/>
          <a:stretch/>
        </p:blipFill>
        <p:spPr>
          <a:xfrm>
            <a:off x="5925865" y="1641866"/>
            <a:ext cx="1528192" cy="163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6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Capacity of Neural Networks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88152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Artificial neural networks can solve non-linearly separable problems.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That is, neural networks can represent more complex features! </a:t>
            </a:r>
            <a:endParaRPr lang="en-US" altLang="ko-KR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Linearly separable problems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Non-linearly separable problems</a:t>
            </a:r>
            <a:endParaRPr lang="en-US" altLang="ko-KR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r="66569"/>
          <a:stretch/>
        </p:blipFill>
        <p:spPr>
          <a:xfrm>
            <a:off x="1504664" y="2420888"/>
            <a:ext cx="1483160" cy="1637023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4"/>
          <a:srcRect r="52654"/>
          <a:stretch/>
        </p:blipFill>
        <p:spPr>
          <a:xfrm>
            <a:off x="2191895" y="4720212"/>
            <a:ext cx="1660025" cy="1633479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3"/>
          <a:srcRect l="33294" r="34583"/>
          <a:stretch/>
        </p:blipFill>
        <p:spPr>
          <a:xfrm>
            <a:off x="3779912" y="2420887"/>
            <a:ext cx="1425100" cy="1637023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3"/>
          <a:srcRect l="65554"/>
          <a:stretch/>
        </p:blipFill>
        <p:spPr>
          <a:xfrm>
            <a:off x="5940152" y="2420886"/>
            <a:ext cx="1528192" cy="1637023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4"/>
          <a:srcRect l="53264"/>
          <a:stretch/>
        </p:blipFill>
        <p:spPr>
          <a:xfrm>
            <a:off x="4499992" y="4720212"/>
            <a:ext cx="1638658" cy="1633479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6516216" y="4941168"/>
            <a:ext cx="2448272" cy="10618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Multi-layer neural networks can solve it by transforming the input in a better representation.</a:t>
            </a:r>
            <a:endParaRPr lang="en-US" altLang="ko-KR" sz="1400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Learning Algorithm of Neural Networks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73967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Back-propagation </a:t>
            </a: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= Learning parameters to minimize the error from the true value in the reverse way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2538089" y="2993430"/>
            <a:ext cx="648072" cy="58700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746001" y="2697509"/>
            <a:ext cx="72008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V="1">
            <a:off x="1746001" y="3417589"/>
            <a:ext cx="720080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57969" y="248148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1</a:t>
            </a:r>
            <a:endParaRPr lang="ko-KR" altLang="en-US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57969" y="365509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0</a:t>
            </a:r>
            <a:endParaRPr lang="ko-KR" altLang="en-US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3267823" y="3286933"/>
            <a:ext cx="63841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842364" y="4012704"/>
                <a:ext cx="225247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600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Activation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𝑦</m:t>
                      </m:r>
                      <m:r>
                        <a:rPr lang="en-US" altLang="ko-KR" sz="1600" b="0" i="1" smtClean="0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𝑓</m:t>
                      </m:r>
                      <m:r>
                        <a:rPr lang="en-US" altLang="ko-KR" sz="1600" b="0" i="1" smtClean="0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ladea" charset="0"/>
                              <a:cs typeface="Liberation Serif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  <a:cs typeface="Liberation Serif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  <a:cs typeface="Liberation Serif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∗1+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ladea" charset="0"/>
                              <a:cs typeface="Liberation Serif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  <a:cs typeface="Liberation Serif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  <a:cs typeface="Liberation Serif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b="0" i="1" smtClean="0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∗0)</m:t>
                      </m:r>
                    </m:oMath>
                  </m:oMathPara>
                </a14:m>
                <a:endParaRPr lang="en-US" altLang="ko-KR" sz="1600" dirty="0" smtClean="0">
                  <a:latin typeface="Liberation Serif" panose="02020603050405020304" pitchFamily="18" charset="0"/>
                  <a:cs typeface="Liberation Serif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364" y="4012704"/>
                <a:ext cx="2252476" cy="584775"/>
              </a:xfrm>
              <a:prstGeom prst="rect">
                <a:avLst/>
              </a:prstGeom>
              <a:blipFill>
                <a:blip r:embed="rId3"/>
                <a:stretch>
                  <a:fillRect t="-3125"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화살표 연결선 22"/>
          <p:cNvCxnSpPr/>
          <p:nvPr/>
        </p:nvCxnSpPr>
        <p:spPr>
          <a:xfrm>
            <a:off x="2236333" y="5877893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V="1">
            <a:off x="2915582" y="4857749"/>
            <a:ext cx="0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V="1">
            <a:off x="2603486" y="5289797"/>
            <a:ext cx="0" cy="5880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2598751" y="5289797"/>
            <a:ext cx="112095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465768" y="5865861"/>
            <a:ext cx="112095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43090" y="589875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h</a:t>
            </a:r>
            <a:endParaRPr lang="ko-KR" altLang="en-US" sz="1600" i="1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53243" y="493794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1</a:t>
            </a:r>
            <a:endParaRPr lang="ko-KR" altLang="en-US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/>
              <p:cNvSpPr/>
              <p:nvPr/>
            </p:nvSpPr>
            <p:spPr>
              <a:xfrm>
                <a:off x="3975690" y="3102267"/>
                <a:ext cx="3874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직사각형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90" y="3102267"/>
                <a:ext cx="387414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149044" y="2582902"/>
                <a:ext cx="295134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ko-KR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If the model outputs 1 and the true value is 0, how should you modify the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ladea" charset="0"/>
                            <a:cs typeface="Liberation Serif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ladea" charset="0"/>
                            <a:cs typeface="Liberation Serif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?</a:t>
                </a:r>
              </a:p>
              <a:p>
                <a:pPr marL="342900" indent="-342900">
                  <a:buAutoNum type="arabicParenBoth"/>
                </a:pPr>
                <a:endParaRPr lang="en-US" altLang="ko-KR" dirty="0" smtClean="0">
                  <a:latin typeface="Liberation Serif" panose="02020603050405020304" pitchFamily="18" charset="0"/>
                  <a:cs typeface="Liberation Serif" panose="02020603050405020304" pitchFamily="18" charset="0"/>
                </a:endParaRPr>
              </a:p>
              <a:p>
                <a:pPr marL="342900" indent="-342900">
                  <a:buFontTx/>
                  <a:buAutoNum type="arabicParenBoth"/>
                </a:pPr>
                <a:r>
                  <a:rPr lang="en-US" altLang="ko-KR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If </a:t>
                </a:r>
                <a:r>
                  <a:rPr lang="en-US" altLang="ko-KR" dirty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the model outputs </a:t>
                </a:r>
                <a:r>
                  <a:rPr lang="en-US" altLang="ko-KR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0 </a:t>
                </a:r>
                <a:r>
                  <a:rPr lang="en-US" altLang="ko-KR" dirty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and the true value is </a:t>
                </a:r>
                <a:r>
                  <a:rPr lang="en-US" altLang="ko-KR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1, </a:t>
                </a:r>
                <a:r>
                  <a:rPr lang="en-US" altLang="ko-KR" dirty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how should you modify the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ladea" charset="0"/>
                            <a:cs typeface="Liberation Serif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ladea" charset="0"/>
                            <a:cs typeface="Liberation Serif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ladea" panose="02040503050406030204" pitchFamily="18" charset="0"/>
                            <a:cs typeface="Liberation Serif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, </m:t>
                    </m:r>
                    <m:r>
                      <a:rPr lang="en-US" altLang="ko-KR" i="1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h</m:t>
                    </m:r>
                    <m:r>
                      <a:rPr lang="en-US" altLang="ko-KR" i="1">
                        <a:latin typeface="Caladea" panose="02040503050406030204" pitchFamily="18" charset="0"/>
                        <a:cs typeface="Liberation Serif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?</a:t>
                </a:r>
                <a:endParaRPr lang="en-US" altLang="ko-KR" dirty="0" smtClean="0">
                  <a:latin typeface="Liberation Serif" panose="02020603050405020304" pitchFamily="18" charset="0"/>
                  <a:cs typeface="Liberation Serif" panose="02020603050405020304" pitchFamily="18" charset="0"/>
                </a:endParaRPr>
              </a:p>
              <a:p>
                <a:pPr marL="342900" indent="-342900">
                  <a:buFontTx/>
                  <a:buAutoNum type="arabicParenBoth"/>
                </a:pPr>
                <a:endParaRPr lang="en-US" altLang="ko-KR" dirty="0">
                  <a:latin typeface="Liberation Serif" panose="02020603050405020304" pitchFamily="18" charset="0"/>
                  <a:cs typeface="Liberation Serif" panose="02020603050405020304" pitchFamily="18" charset="0"/>
                </a:endParaRPr>
              </a:p>
              <a:p>
                <a:pPr marL="342900" indent="-342900">
                  <a:buFontTx/>
                  <a:buAutoNum type="arabicParenBoth"/>
                </a:pPr>
                <a:r>
                  <a:rPr lang="en-US" altLang="ko-KR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Until when? Minimizing </a:t>
                </a:r>
                <a:r>
                  <a:rPr lang="en-US" altLang="ko-KR" i="1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the error (loss) function</a:t>
                </a:r>
                <a:endParaRPr lang="en-US" altLang="ko-KR" i="1" dirty="0">
                  <a:latin typeface="Liberation Serif" panose="02020603050405020304" pitchFamily="18" charset="0"/>
                  <a:cs typeface="Liberation Serif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044" y="2582902"/>
                <a:ext cx="2951348" cy="3416320"/>
              </a:xfrm>
              <a:prstGeom prst="rect">
                <a:avLst/>
              </a:prstGeom>
              <a:blipFill>
                <a:blip r:embed="rId5"/>
                <a:stretch>
                  <a:fillRect l="-1446" t="-1071" r="-2893" b="-19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/>
              <p:cNvSpPr/>
              <p:nvPr/>
            </p:nvSpPr>
            <p:spPr>
              <a:xfrm>
                <a:off x="2664795" y="3102267"/>
                <a:ext cx="3869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ladea" panose="02040503050406030204" pitchFamily="18" charset="0"/>
                          <a:cs typeface="Liberation Serif" panose="02020603050405020304" pitchFamily="18" charset="0"/>
                        </a:rPr>
                        <m:t>𝑓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직사각형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795" y="3102267"/>
                <a:ext cx="386965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연결선 37"/>
          <p:cNvCxnSpPr/>
          <p:nvPr/>
        </p:nvCxnSpPr>
        <p:spPr>
          <a:xfrm flipH="1">
            <a:off x="2915582" y="2820039"/>
            <a:ext cx="117589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 flipH="1" flipV="1">
            <a:off x="2058848" y="2337469"/>
            <a:ext cx="856734" cy="4825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0586" y="2400828"/>
            <a:ext cx="1651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Direction of updates</a:t>
            </a:r>
          </a:p>
        </p:txBody>
      </p:sp>
    </p:spTree>
    <p:extLst>
      <p:ext uri="{BB962C8B-B14F-4D97-AF65-F5344CB8AC3E}">
        <p14:creationId xmlns:p14="http://schemas.microsoft.com/office/powerpoint/2010/main" val="55170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-3524" y="2842472"/>
            <a:ext cx="78878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Ch3. </a:t>
            </a:r>
            <a:r>
              <a:rPr lang="en-US" altLang="ko-KR" sz="32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Deep </a:t>
            </a: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Learning Algorithms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16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Representation Learning + Deep Architecture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“Deep Learning can be considered as special case of representation learning algorithms which learn representations of the data in a Deep Architecture with </a:t>
            </a:r>
            <a:r>
              <a:rPr lang="en-US" altLang="ko-KR" sz="2000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multiple levels of representations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.”</a:t>
            </a:r>
            <a:r>
              <a:rPr lang="en-US" altLang="ko-KR" sz="2000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(</a:t>
            </a:r>
            <a:r>
              <a:rPr lang="en-US" altLang="ko-KR" sz="200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Najafabadi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et al. 2015, p. 5)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4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Recent deep learning algorithms are mostly based on neural networks.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Neural network + Deep architecture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	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= Feed-forward networks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with many hidden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layers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	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= Multi-layer perceptron (MLP)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	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= Deep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neural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network (DNN)</a:t>
            </a:r>
          </a:p>
          <a:p>
            <a:pPr lvl="1">
              <a:lnSpc>
                <a:spcPct val="150000"/>
              </a:lnSpc>
            </a:pPr>
            <a:endParaRPr lang="en-US" altLang="ko-KR" sz="1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More specialized algorithms: CNN, RNN, LSTM, etc.</a:t>
            </a:r>
            <a:endParaRPr lang="en-US" altLang="ko-KR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521994" y="5837202"/>
            <a:ext cx="72799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 err="1">
                <a:solidFill>
                  <a:srgbClr val="222222"/>
                </a:solidFill>
                <a:latin typeface="Liberation Sans" panose="020B0604020202020204" pitchFamily="34" charset="0"/>
              </a:rPr>
              <a:t>Najafabadi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, M. M., </a:t>
            </a:r>
            <a:r>
              <a:rPr lang="en-US" altLang="ko-KR" sz="900" dirty="0" err="1">
                <a:solidFill>
                  <a:srgbClr val="222222"/>
                </a:solidFill>
                <a:latin typeface="Liberation Sans" panose="020B0604020202020204" pitchFamily="34" charset="0"/>
              </a:rPr>
              <a:t>Villanustre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, F., </a:t>
            </a:r>
            <a:r>
              <a:rPr lang="en-US" altLang="ko-KR" sz="900" dirty="0" err="1">
                <a:solidFill>
                  <a:srgbClr val="222222"/>
                </a:solidFill>
                <a:latin typeface="Liberation Sans" panose="020B0604020202020204" pitchFamily="34" charset="0"/>
              </a:rPr>
              <a:t>Khoshgoftaar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, T. M., </a:t>
            </a:r>
            <a:r>
              <a:rPr lang="en-US" altLang="ko-KR" sz="900" dirty="0" err="1">
                <a:solidFill>
                  <a:srgbClr val="222222"/>
                </a:solidFill>
                <a:latin typeface="Liberation Sans" panose="020B0604020202020204" pitchFamily="34" charset="0"/>
              </a:rPr>
              <a:t>Seliya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, N., Wald, R., &amp; </a:t>
            </a:r>
            <a:r>
              <a:rPr lang="en-US" altLang="ko-KR" sz="900" dirty="0" err="1">
                <a:solidFill>
                  <a:srgbClr val="222222"/>
                </a:solidFill>
                <a:latin typeface="Liberation Sans" panose="020B0604020202020204" pitchFamily="34" charset="0"/>
              </a:rPr>
              <a:t>Muharemagic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, E. (2015). Deep 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Learning Applications 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and 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Challenges 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in 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Big Data Analytics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. </a:t>
            </a:r>
            <a:r>
              <a:rPr lang="en-US" altLang="ko-KR" sz="900" i="1" dirty="0">
                <a:solidFill>
                  <a:srgbClr val="222222"/>
                </a:solidFill>
                <a:latin typeface="Liberation Sans" panose="020B0604020202020204" pitchFamily="34" charset="0"/>
              </a:rPr>
              <a:t>Journal of Big Data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, </a:t>
            </a:r>
            <a:r>
              <a:rPr lang="en-US" altLang="ko-KR" sz="900" i="1" dirty="0">
                <a:solidFill>
                  <a:srgbClr val="222222"/>
                </a:solidFill>
                <a:latin typeface="Liberation Sans" panose="020B0604020202020204" pitchFamily="34" charset="0"/>
              </a:rPr>
              <a:t>2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(1), 1.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2510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Representation Learning + Deep 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Architecture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Then, how deep?</a:t>
            </a:r>
          </a:p>
        </p:txBody>
      </p:sp>
      <p:pic>
        <p:nvPicPr>
          <p:cNvPr id="7170" name="Picture 2" descr="imagenet 2016 - depth -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72816"/>
            <a:ext cx="6881558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0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796576" y="2799609"/>
            <a:ext cx="7887892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Convolutional Neural Network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65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What </a:t>
            </a: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is Convolutional Neural Network (CNN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)?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4328" y="980728"/>
            <a:ext cx="81281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A typical example of CNN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Inputs (2-dimension</a:t>
            </a:r>
            <a:r>
              <a:rPr lang="en-US" altLang="ko-KR" dirty="0" smtClean="0">
                <a:latin typeface="Caladea" panose="02040503050406030204" pitchFamily="18" charset="0"/>
                <a:ea typeface="Caladea" panose="02040503050406030204" pitchFamily="18" charset="0"/>
                <a:cs typeface="Liberation Serif" panose="02020603050405020304" pitchFamily="18" charset="0"/>
              </a:rPr>
              <a:t> ⨯ channels)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→ [Convolution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-&gt; </a:t>
            </a:r>
            <a:r>
              <a:rPr lang="en-US" altLang="ko-KR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-&gt;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Pooling]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→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…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→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[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 -&gt; </a:t>
            </a:r>
            <a:r>
              <a:rPr lang="en-US" altLang="ko-KR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-&gt; Pooling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] → Fully connected layer                     → Output prediction (Multi-class classification)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3314" name="Picture 2" descr="Image result for convolutional neur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86" y="2060848"/>
            <a:ext cx="8123985" cy="193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03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67544" y="144085"/>
            <a:ext cx="821925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Example: 1D Convolution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6" name="직선 연결선 15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8"/>
          <p:cNvSpPr txBox="1"/>
          <p:nvPr/>
        </p:nvSpPr>
        <p:spPr>
          <a:xfrm>
            <a:off x="404328" y="980728"/>
            <a:ext cx="82824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How can we apply convolution on 1D time series data?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1D Convolution of discrete time signals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Example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Kernel: 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Time series data: 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219444" y="3413175"/>
          <a:ext cx="10360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16"/>
                <a:gridCol w="518016"/>
              </a:tblGrid>
              <a:tr h="315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3219446" y="3887372"/>
          <a:ext cx="41616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</a:tblGrid>
              <a:tr h="290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622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7544" y="144085"/>
            <a:ext cx="821925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Example: 1D 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7" name="직선 연결선 15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67544" y="1070626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Example</a:t>
            </a:r>
          </a:p>
          <a:p>
            <a:pPr marL="1200150" lvl="2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 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= 0: -1*0 + 1*0 =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0</a:t>
            </a:r>
          </a:p>
          <a:p>
            <a:pPr marL="1200150" lvl="2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N = 1: -1*0 + 1*0 = 0</a:t>
            </a:r>
          </a:p>
          <a:p>
            <a:pPr marL="1200150" lvl="2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 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= 2: -1*0 + 1*1 =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1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2209795" y="2033260"/>
          <a:ext cx="10360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16"/>
                <a:gridCol w="518016"/>
              </a:tblGrid>
              <a:tr h="315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2209797" y="2507457"/>
          <a:ext cx="41616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</a:tblGrid>
              <a:tr h="290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2209795" y="2033260"/>
            <a:ext cx="1036032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2209795" y="2507457"/>
            <a:ext cx="1036032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2296252" y="3419985"/>
          <a:ext cx="10360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16"/>
                <a:gridCol w="518016"/>
              </a:tblGrid>
              <a:tr h="315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2296254" y="3894182"/>
          <a:ext cx="41616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</a:tblGrid>
              <a:tr h="290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296252" y="3419985"/>
            <a:ext cx="1036032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2814268" y="3894182"/>
            <a:ext cx="1036032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2296252" y="4785414"/>
          <a:ext cx="10360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16"/>
                <a:gridCol w="518016"/>
              </a:tblGrid>
              <a:tr h="315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2296254" y="5259611"/>
          <a:ext cx="41616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</a:tblGrid>
              <a:tr h="290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2296252" y="4785414"/>
            <a:ext cx="1036032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3332284" y="5237502"/>
            <a:ext cx="1036032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1475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67544" y="187617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Example: 2D 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4328" y="980728"/>
            <a:ext cx="8282472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</a:t>
            </a:r>
          </a:p>
        </p:txBody>
      </p:sp>
      <p:cxnSp>
        <p:nvCxnSpPr>
          <p:cNvPr id="16" name="직선 연결선 15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 descr="Convolution_schematic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2" y="3866355"/>
            <a:ext cx="2552700" cy="186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Screen Shot 2016-07-24 at 11.25.13 P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59" y="2054358"/>
            <a:ext cx="1209675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Screen Shot 2016-07-24 at 11.25.24 P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750" y="2302008"/>
            <a:ext cx="704850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846616" y="3085510"/>
            <a:ext cx="97815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Image data</a:t>
            </a:r>
            <a:endParaRPr lang="en-US" altLang="ko-KR" sz="14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088804" y="3085510"/>
            <a:ext cx="147508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 filter</a:t>
            </a:r>
            <a:endParaRPr lang="en-US" altLang="ko-KR" sz="14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7" name="아래쪽 화살표 16"/>
          <p:cNvSpPr/>
          <p:nvPr/>
        </p:nvSpPr>
        <p:spPr>
          <a:xfrm>
            <a:off x="846616" y="3596596"/>
            <a:ext cx="2329641" cy="233336"/>
          </a:xfrm>
          <a:prstGeom prst="downArrow">
            <a:avLst>
              <a:gd name="adj1" fmla="val 50000"/>
              <a:gd name="adj2" fmla="val 100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459" y="1624649"/>
            <a:ext cx="3467578" cy="394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2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9144000" cy="328074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67544" y="187617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Applying 2D Multiple Kernel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8" name="직선 연결선 15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78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Introducing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non-linearity (</a:t>
            </a:r>
            <a:r>
              <a:rPr lang="en-US" altLang="ko-KR" sz="200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en-US" altLang="ko-KR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The purpose of </a:t>
            </a:r>
            <a:r>
              <a:rPr lang="en-US" altLang="ko-KR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is to introduce non-linearity in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CNN.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Other non-linear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functions such as </a:t>
            </a:r>
            <a:r>
              <a:rPr lang="en-US" altLang="ko-KR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tanh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or sigmoid can also be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used,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but </a:t>
            </a:r>
            <a:r>
              <a:rPr lang="en-US" altLang="ko-KR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has been found to perform better in most situations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.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705137" y="5877272"/>
            <a:ext cx="518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Source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: An Intuitive Explanation of Convolutional Neural 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Networks (Data Science Blog)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>https://ujjwalkarn.me/2016/08/11/intuitive-explanation-convnets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>/</a:t>
            </a:r>
            <a:endParaRPr lang="ko-KR" altLang="en-US" sz="900" dirty="0">
              <a:solidFill>
                <a:srgbClr val="222222"/>
              </a:solidFill>
              <a:latin typeface="Liberation Sans" panose="020B0604020202020204" pitchFamily="34" charset="0"/>
            </a:endParaRPr>
          </a:p>
        </p:txBody>
      </p:sp>
      <p:pic>
        <p:nvPicPr>
          <p:cNvPr id="4100" name="Picture 4" descr="Screen Shot 2016-08-07 at 6.18.19 PM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356992"/>
            <a:ext cx="5904656" cy="221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creen Shot 2016-08-10 at 2.23.48 AM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7" r="54951" b="37364"/>
          <a:stretch/>
        </p:blipFill>
        <p:spPr bwMode="auto">
          <a:xfrm>
            <a:off x="323528" y="5291347"/>
            <a:ext cx="23042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Screen Shot 2016-08-10 at 2.23.48 AM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3"/>
          <a:stretch/>
        </p:blipFill>
        <p:spPr bwMode="auto">
          <a:xfrm>
            <a:off x="166281" y="3573016"/>
            <a:ext cx="260865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67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Max Pooling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4328" y="980728"/>
            <a:ext cx="8282472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Reducing 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the dimensionality of each feature map (Pooling)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The purpose of pooling is to reduce the number of parameters and computations in the network, therefore, controlling overfitting.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Another purpose is to make the network invariant to small transformations, distortions and translations in the input image.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Pooling can be of different types: Max, Average, Sum, etc.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4" descr="Screen Shot 2016-08-07 at 6.11.53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274" y="3779649"/>
            <a:ext cx="4788656" cy="204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20" y="3954659"/>
            <a:ext cx="3730786" cy="1556982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705137" y="5981218"/>
            <a:ext cx="518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Source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: An Intuitive Explanation of Convolutional Neural 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Networks (Data Science Blog)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  <a:hlinkClick r:id="rId4"/>
              </a:rPr>
              <a:t>https://ujjwalkarn.me/2016/08/11/intuitive-explanation-convnets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4"/>
              </a:rPr>
              <a:t>/</a:t>
            </a:r>
            <a:endParaRPr lang="ko-KR" altLang="en-US" sz="900" dirty="0">
              <a:solidFill>
                <a:srgbClr val="222222"/>
              </a:solidFill>
              <a:latin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42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What </a:t>
            </a: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is Convolutional Neural Network (CNN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)?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4328" y="980728"/>
            <a:ext cx="81281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A typical example of CNN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Inputs (2-dimension</a:t>
            </a:r>
            <a:r>
              <a:rPr lang="en-US" altLang="ko-KR" dirty="0" smtClean="0">
                <a:latin typeface="Caladea" panose="02040503050406030204" pitchFamily="18" charset="0"/>
                <a:ea typeface="Caladea" panose="02040503050406030204" pitchFamily="18" charset="0"/>
                <a:cs typeface="Liberation Serif" panose="02020603050405020304" pitchFamily="18" charset="0"/>
              </a:rPr>
              <a:t> ⨯ channels)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→ [Convolution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-&gt; </a:t>
            </a:r>
            <a:r>
              <a:rPr lang="en-US" altLang="ko-KR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-&gt;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Pooling]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→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…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→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[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 -&gt; </a:t>
            </a:r>
            <a:r>
              <a:rPr lang="en-US" altLang="ko-KR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-&gt; Pooling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] → Fully connected layer                     → Output prediction (Multi-class classification)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3314" name="Picture 2" descr="Image result for convolutional neur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86" y="2060848"/>
            <a:ext cx="8123985" cy="193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77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Convolutional Neural Network (CNN)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291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CNN automatically learns the best filters to extract the feature maps for image classifications through back propagation.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633862" y="6237312"/>
            <a:ext cx="3402634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Source: 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>Image 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Kernels demo, 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>http://setosa.io/ev/image-kernels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>/</a:t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 </a:t>
            </a:r>
            <a:endParaRPr lang="ko-KR" altLang="en-US" sz="900" dirty="0">
              <a:solidFill>
                <a:srgbClr val="222222"/>
              </a:solidFill>
              <a:latin typeface="Liberation Sans" panose="020B0604020202020204" pitchFamily="34" charset="0"/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 flipV="1">
            <a:off x="2107849" y="3023909"/>
            <a:ext cx="1510215" cy="579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2107849" y="4509120"/>
            <a:ext cx="15102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107849" y="4607260"/>
            <a:ext cx="1510215" cy="64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515234" y="5845238"/>
            <a:ext cx="753732" cy="376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Emboss</a:t>
            </a:r>
            <a:endParaRPr lang="en-US" altLang="ko-KR" sz="14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392027" y="3403516"/>
            <a:ext cx="1027845" cy="376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Edge detect</a:t>
            </a:r>
            <a:endParaRPr lang="en-US" altLang="ko-KR" sz="14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483768" y="2005384"/>
            <a:ext cx="772969" cy="376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Sharpen</a:t>
            </a:r>
            <a:endParaRPr lang="en-US" altLang="ko-KR" sz="14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5426556" y="2926248"/>
            <a:ext cx="5135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5426556" y="4509120"/>
            <a:ext cx="5135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5426556" y="5373216"/>
            <a:ext cx="5135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5990543" y="2180031"/>
            <a:ext cx="1322381" cy="3877466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-&gt; pooling</a:t>
            </a:r>
          </a:p>
          <a:p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-&gt; convolution </a:t>
            </a:r>
          </a:p>
          <a:p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-&gt; pooling </a:t>
            </a:r>
          </a:p>
          <a:p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-&gt; convolution</a:t>
            </a:r>
          </a:p>
          <a:p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…</a:t>
            </a:r>
            <a:endParaRPr lang="ko-KR" altLang="en-US" sz="14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53" name="직선 화살표 연결선 52"/>
          <p:cNvCxnSpPr>
            <a:stCxn id="37" idx="3"/>
            <a:endCxn id="6" idx="2"/>
          </p:cNvCxnSpPr>
          <p:nvPr/>
        </p:nvCxnSpPr>
        <p:spPr>
          <a:xfrm flipV="1">
            <a:off x="7312924" y="3005684"/>
            <a:ext cx="902738" cy="1113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7884368" y="1844824"/>
            <a:ext cx="1098378" cy="376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i="1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Output </a:t>
            </a:r>
            <a:r>
              <a:rPr lang="en-US" altLang="ko-KR" sz="1400" i="1" dirty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layer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948830" y="2305518"/>
            <a:ext cx="1207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i="1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 </a:t>
            </a:r>
          </a:p>
          <a:p>
            <a:r>
              <a:rPr lang="en-US" altLang="ko-KR" sz="1400" i="1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Filter (kernel)</a:t>
            </a:r>
            <a:endParaRPr lang="en-US" altLang="ko-KR" sz="1400" i="1" dirty="0">
              <a:solidFill>
                <a:srgbClr val="C00000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336245" y="3265239"/>
            <a:ext cx="11718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i="1" dirty="0" smtClean="0">
                <a:solidFill>
                  <a:srgbClr val="C00000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Feature maps</a:t>
            </a:r>
            <a:endParaRPr lang="en-US" altLang="ko-KR" sz="1400" i="1" dirty="0">
              <a:solidFill>
                <a:srgbClr val="C00000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70279" y="4818660"/>
            <a:ext cx="10470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i="1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Input image</a:t>
            </a:r>
            <a:endParaRPr lang="en-US" altLang="ko-KR" sz="1400" i="1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8215662" y="2708920"/>
            <a:ext cx="593527" cy="59352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8215662" y="3573016"/>
            <a:ext cx="593527" cy="59352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8219822" y="5301208"/>
            <a:ext cx="593527" cy="59352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221141" y="2760103"/>
            <a:ext cx="599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Board </a:t>
            </a:r>
          </a:p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(0.54)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8242782" y="3615407"/>
            <a:ext cx="556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Sea</a:t>
            </a:r>
          </a:p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(0.43)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206091" y="5375573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Flower</a:t>
            </a:r>
          </a:p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(0.01)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45" name="직선 화살표 연결선 44"/>
          <p:cNvCxnSpPr>
            <a:stCxn id="37" idx="3"/>
            <a:endCxn id="35" idx="2"/>
          </p:cNvCxnSpPr>
          <p:nvPr/>
        </p:nvCxnSpPr>
        <p:spPr>
          <a:xfrm flipV="1">
            <a:off x="7312924" y="3869780"/>
            <a:ext cx="902738" cy="248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37" idx="3"/>
            <a:endCxn id="36" idx="2"/>
          </p:cNvCxnSpPr>
          <p:nvPr/>
        </p:nvCxnSpPr>
        <p:spPr>
          <a:xfrm>
            <a:off x="7312924" y="4118764"/>
            <a:ext cx="906898" cy="1479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8188274" y="4437112"/>
            <a:ext cx="593527" cy="593527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215394" y="4490409"/>
            <a:ext cx="556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Cat</a:t>
            </a:r>
          </a:p>
          <a:p>
            <a:pPr algn="ctr"/>
            <a:r>
              <a:rPr lang="en-US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(0.02)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50" name="직선 화살표 연결선 49"/>
          <p:cNvCxnSpPr>
            <a:stCxn id="37" idx="3"/>
            <a:endCxn id="48" idx="2"/>
          </p:cNvCxnSpPr>
          <p:nvPr/>
        </p:nvCxnSpPr>
        <p:spPr>
          <a:xfrm>
            <a:off x="7312924" y="4118764"/>
            <a:ext cx="875350" cy="615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7351430" y="2480763"/>
            <a:ext cx="87779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i="1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Softmax</a:t>
            </a:r>
            <a:r>
              <a:rPr lang="en-US" altLang="ko-KR" sz="1400" i="1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function</a:t>
            </a:r>
            <a:endParaRPr lang="en-US" altLang="ko-KR" sz="1400" i="1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611" y="3615407"/>
            <a:ext cx="1645647" cy="123258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767" y="3772255"/>
            <a:ext cx="688074" cy="68297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321" y="2049703"/>
            <a:ext cx="1645937" cy="123528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7904" y="5010694"/>
            <a:ext cx="1648353" cy="1223827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8912" y="5168312"/>
            <a:ext cx="754073" cy="748466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4708" y="2431009"/>
            <a:ext cx="703133" cy="703133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750" y="3479364"/>
            <a:ext cx="1697674" cy="127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Convolutional Neural Network 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(CNN) 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2079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CNN has been considered as a basic deep learning algorithm. Why is CNN superior at feature representations?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Effectively reducing computational complexity (Convolution filter)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Hierarchical feature representation (multiple convolution layers)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Non-linearity and less overfitting (</a:t>
            </a:r>
            <a:r>
              <a:rPr lang="en-US" altLang="ko-KR" sz="16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Rectified Linear </a:t>
            </a: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Unit </a:t>
            </a:r>
            <a:r>
              <a:rPr lang="en-US" altLang="ko-KR" sz="16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(</a:t>
            </a:r>
            <a:r>
              <a:rPr lang="en-US" altLang="ko-KR" sz="160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ReLU</a:t>
            </a: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 and Pooling)</a:t>
            </a:r>
          </a:p>
        </p:txBody>
      </p:sp>
    </p:spTree>
    <p:extLst>
      <p:ext uri="{BB962C8B-B14F-4D97-AF65-F5344CB8AC3E}">
        <p14:creationId xmlns:p14="http://schemas.microsoft.com/office/powerpoint/2010/main" val="65919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305290"/>
            <a:ext cx="468052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4000" spc="-150" dirty="0" smtClean="0">
                <a:solidFill>
                  <a:schemeClr val="bg1"/>
                </a:solidFill>
                <a:latin typeface="Liberation Sans" pitchFamily="18" charset="-127"/>
                <a:ea typeface="Liberation Sans" pitchFamily="18" charset="-127"/>
              </a:rPr>
              <a:t>Thank you.</a:t>
            </a:r>
            <a:r>
              <a:rPr lang="en-US" altLang="ko-KR" sz="4000" spc="-150" dirty="0" smtClean="0">
                <a:solidFill>
                  <a:schemeClr val="bg1"/>
                </a:solidFill>
                <a:latin typeface="Liberation Sans" pitchFamily="18" charset="-127"/>
                <a:ea typeface="Liberation Sans" pitchFamily="18" charset="-127"/>
              </a:rPr>
              <a:t/>
            </a:r>
          </a:p>
        </p:txBody>
      </p:sp>
      <p:sp>
        <p:nvSpPr>
          <p:cNvPr id="6" name="직사각형 5"/>
          <p:cNvSpPr/>
          <p:nvPr/>
        </p:nvSpPr>
        <p:spPr>
          <a:xfrm>
            <a:off x="323528" y="332656"/>
            <a:ext cx="5760640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825995"/>
            <a:ext cx="5472608" cy="31854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44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Thank you </a:t>
            </a:r>
            <a:r>
              <a:rPr lang="en-US" altLang="ko-KR" sz="44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  <a:sym typeface="Wingdings"/>
              </a:rPr>
              <a:t></a:t>
            </a:r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25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Contact Info: </a:t>
            </a:r>
            <a:r>
              <a:rPr lang="en-US" altLang="ko-KR" sz="2500" spc="-150" dirty="0" err="1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quantic.jh@gmail.com</a:t>
            </a:r>
            <a:endParaRPr lang="en-US" altLang="ko-KR" sz="25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4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(Appendix) </a:t>
            </a: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Learning Algorithm of Neural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Gradient descent method (Back-propagation)</a:t>
            </a: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= Learning </a:t>
            </a: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parameters to minimize the error from the true </a:t>
            </a: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value in the systematic,  reverse way even for multiple hidden layers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3074" name="Picture 2" descr="https://4.bp.blogspot.com/-j91brUgZ5QY/WHeq3iGghmI/AAAAAAAABJ8/Qmmr25maCjomyEGhcHUyBQoSr-by0pTsgCK4B/s400/%25EA%25B7%25B8%25EB%25A6%25BC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85" y="2964090"/>
            <a:ext cx="4408739" cy="214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705137" y="5981218"/>
            <a:ext cx="518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Source: Fully Understanding Backpropagation with Examples (Jaejun Yoo’s Playground) http://jaejunyoo.blogspot.com/2017/01/backpropagation.html 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ko-KR" altLang="en-US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ko-KR" altLang="en-US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err="1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err="1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4"/>
              </a:rPr>
              <a:t/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  <a:hlinkClick r:id="rId4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4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endParaRPr lang="ko-KR" altLang="en-US" sz="900" dirty="0">
              <a:solidFill>
                <a:srgbClr val="222222"/>
              </a:solidFill>
              <a:latin typeface="Liberation Sans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56303" y="3366550"/>
                <a:ext cx="3505354" cy="13443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600" b="0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The goal is to minimize the following error (loss) function,</a:t>
                </a:r>
              </a:p>
              <a:p>
                <a:endParaRPr lang="en-US" altLang="ko-KR" sz="1600" b="0" i="1" dirty="0" smtClean="0">
                  <a:latin typeface="Calade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ladea" panose="02040503050406030204" pitchFamily="18" charset="0"/>
                        </a:rPr>
                        <m:t>𝐸</m:t>
                      </m:r>
                      <m:r>
                        <a:rPr lang="en-US" altLang="ko-KR" sz="1400" b="0" i="1" smtClean="0">
                          <a:latin typeface="Caladea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ladea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ladea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ladea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ladea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begChr m:val="["/>
                              <m:ctrlPr>
                                <a:rPr lang="en-US" altLang="ko-KR" sz="1400" b="0" i="1" smtClean="0">
                                  <a:latin typeface="Caladea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ladea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ladea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sz="1400" b="0" i="1" smtClean="0">
                                      <a:latin typeface="Caladea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smtClean="0">
                                      <a:latin typeface="Caladea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1400" b="0" i="1" smtClean="0">
                                          <a:latin typeface="Caladea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400" b="0" i="1" smtClean="0">
                                              <a:latin typeface="Caladea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b="0" i="1" smtClean="0">
                                              <a:latin typeface="Caladea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b="0" i="1" smtClean="0">
                                              <a:latin typeface="Calade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altLang="ko-KR" sz="1400" b="0" i="1" smtClean="0">
                                  <a:latin typeface="Caladea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ko-KR" sz="1400" b="0" i="1" smtClean="0">
                                      <a:latin typeface="Calade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latin typeface="Caladea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atin typeface="Caladea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atin typeface="Caladea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ladea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ko-KR" sz="1400" b="0" i="1" smtClean="0">
                                      <a:latin typeface="Caladea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smtClean="0">
                                      <a:latin typeface="Caladea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1400" b="0" i="1" smtClean="0">
                                          <a:latin typeface="Calade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b="0" i="1" smtClean="0">
                                          <a:latin typeface="Caladea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400" b="0" i="1" smtClean="0">
                                              <a:latin typeface="Caladea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b="0" i="1" smtClean="0">
                                              <a:latin typeface="Caladea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b="0" i="1" smtClean="0">
                                              <a:latin typeface="Calade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  <m:r>
                        <a:rPr lang="en-US" altLang="ko-KR" sz="1400" b="0" i="1" smtClean="0">
                          <a:latin typeface="Caladea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303" y="3366550"/>
                <a:ext cx="3505354" cy="1344342"/>
              </a:xfrm>
              <a:prstGeom prst="rect">
                <a:avLst/>
              </a:prstGeom>
              <a:blipFill>
                <a:blip r:embed="rId5"/>
                <a:stretch>
                  <a:fillRect l="-3652" t="-45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316127" y="2630341"/>
            <a:ext cx="839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True values</a:t>
            </a:r>
          </a:p>
        </p:txBody>
      </p:sp>
    </p:spTree>
    <p:extLst>
      <p:ext uri="{BB962C8B-B14F-4D97-AF65-F5344CB8AC3E}">
        <p14:creationId xmlns:p14="http://schemas.microsoft.com/office/powerpoint/2010/main" val="22989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(Appendix) Learning Algorithm of Neural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Gradient descent method (Back-propagation)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= Learning parameters to minimize the error from the true value in the systematic,  reverse way even for multiple hidden layers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705137" y="5981218"/>
            <a:ext cx="518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Source: Fully Understanding Backpropagation with Examples (Jaejun Yoo’s Playground) http://jaejunyoo.blogspot.com/2017/01/backpropagation.html 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ko-KR" altLang="en-US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ko-KR" altLang="en-US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err="1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err="1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/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endParaRPr lang="ko-KR" altLang="en-US" sz="900" dirty="0">
              <a:solidFill>
                <a:srgbClr val="222222"/>
              </a:solidFill>
              <a:latin typeface="Liberation Sans" panose="020B0604020202020204" pitchFamily="34" charset="0"/>
            </a:endParaRPr>
          </a:p>
        </p:txBody>
      </p:sp>
      <p:pic>
        <p:nvPicPr>
          <p:cNvPr id="4098" name="Picture 2" descr="https://4.bp.blogspot.com/-ToU0qS0d-OE/WHerFhK4GaI/AAAAAAAABKE/HdX7mJGS8SEsHZ3l96AOFf4wViX_qJB7QCK4B/s320/%25EA%25B7%25B8%25EB%25A6%25BC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01" y="2735195"/>
            <a:ext cx="304800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860032" y="2780928"/>
                <a:ext cx="3528392" cy="23064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600" b="0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Firstly, update the parameters between output and hidden layers.</a:t>
                </a:r>
              </a:p>
              <a:p>
                <a:endParaRPr lang="en-US" altLang="ko-KR" sz="1600" b="0" i="1" dirty="0" smtClean="0">
                  <a:latin typeface="Calade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0" i="1" smtClean="0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b="0" i="1" smtClean="0">
                              <a:latin typeface="Caladea" panose="02040503050406030204" pitchFamily="18" charset="0"/>
                            </a:rPr>
                            <m:t>𝜕</m:t>
                          </m:r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ko-KR" altLang="en-US" sz="1600" b="0" i="1" smtClean="0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1600" b="0" i="1" smtClean="0">
                          <a:latin typeface="Calade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r>
                            <a:rPr lang="en-US" altLang="ko-KR" sz="1600" i="1">
                              <a:latin typeface="Caladea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600" i="1" dirty="0" smtClean="0"/>
              </a:p>
              <a:p>
                <a:endParaRPr lang="en-US" altLang="ko-KR" sz="1600" i="1" dirty="0" smtClean="0">
                  <a:latin typeface="Caladea" panose="02040503050406030204" pitchFamily="18" charset="0"/>
                  <a:ea typeface="Caladea" panose="02040503050406030204" pitchFamily="18" charset="0"/>
                </a:endParaRPr>
              </a:p>
              <a:p>
                <a:endParaRPr lang="en-US" altLang="ko-KR" sz="1600" i="1" dirty="0" smtClean="0">
                  <a:latin typeface="Caladea" panose="02040503050406030204" pitchFamily="18" charset="0"/>
                  <a:ea typeface="Calade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ladea" panose="02040503050406030204" pitchFamily="18" charset="0"/>
                          <a:ea typeface="Caladea" panose="02040503050406030204" pitchFamily="18" charset="0"/>
                        </a:rPr>
                        <m:t>∴</m:t>
                      </m:r>
                      <m:r>
                        <a:rPr lang="en-US" altLang="ko-KR" sz="1600" b="0" i="1" smtClean="0">
                          <a:latin typeface="Caladea" panose="02040503050406030204" pitchFamily="18" charset="0"/>
                          <a:ea typeface="Caladea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r>
                            <a:rPr lang="en-US" altLang="ko-KR" sz="1600" i="1">
                              <a:latin typeface="Caladea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1600" i="1">
                          <a:latin typeface="Caladea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ladea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1600" b="0" i="1" smtClean="0">
                              <a:latin typeface="Caladea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780928"/>
                <a:ext cx="3528392" cy="2306401"/>
              </a:xfrm>
              <a:prstGeom prst="rect">
                <a:avLst/>
              </a:prstGeom>
              <a:blipFill>
                <a:blip r:embed="rId5"/>
                <a:stretch>
                  <a:fillRect l="-3454" t="-2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444756" y="2501096"/>
            <a:ext cx="839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True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352" y="364502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(Chain rule)</a:t>
            </a:r>
          </a:p>
        </p:txBody>
      </p:sp>
    </p:spTree>
    <p:extLst>
      <p:ext uri="{BB962C8B-B14F-4D97-AF65-F5344CB8AC3E}">
        <p14:creationId xmlns:p14="http://schemas.microsoft.com/office/powerpoint/2010/main" val="110742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(Appendix) Learning Algorithm of Neural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416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Gradient descent method (Back-propagation)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= Learning parameters to minimize the error from the true value in the systematic,  reverse way even for multiple hidden layers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705137" y="5981218"/>
            <a:ext cx="518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Source: Fully Understanding Backpropagation with Examples (Jaejun Yoo’s Playground) http://jaejunyoo.blogspot.com/2017/01/backpropagation.html </a:t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ko-KR" altLang="en-US" sz="900" dirty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ko-KR" altLang="en-US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err="1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err="1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/>
            </a:r>
            <a:r>
              <a:rPr lang="en-US" altLang="ko-KR" sz="900" dirty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/>
            </a:r>
            <a:r>
              <a:rPr lang="en-US" altLang="ko-KR" sz="9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/>
            </a:r>
            <a:endParaRPr lang="ko-KR" altLang="en-US" sz="900" dirty="0">
              <a:solidFill>
                <a:srgbClr val="222222"/>
              </a:solidFill>
              <a:latin typeface="Liberation Sans" panose="020B0604020202020204" pitchFamily="34" charset="0"/>
            </a:endParaRPr>
          </a:p>
        </p:txBody>
      </p:sp>
      <p:pic>
        <p:nvPicPr>
          <p:cNvPr id="5122" name="Picture 2" descr="https://3.bp.blogspot.com/-eYYxEnpGW00/WHeqYq8P32I/AAAAAAAABJ0/6mySoKNK6nE_4O1r-SLI_K-mE9dhDLFqACK4B/s320/%25EA%25B7%25B8%25EB%25A6%25BC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01" y="2736753"/>
            <a:ext cx="304800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88024" y="2492896"/>
                <a:ext cx="3960440" cy="30832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600" b="0" dirty="0" smtClean="0">
                    <a:latin typeface="Liberation Serif" panose="02020603050405020304" pitchFamily="18" charset="0"/>
                    <a:cs typeface="Liberation Serif" panose="02020603050405020304" pitchFamily="18" charset="0"/>
                  </a:rPr>
                  <a:t>Secondly, update the parameters between hidden and input layers.</a:t>
                </a:r>
              </a:p>
              <a:p>
                <a:endParaRPr lang="en-US" altLang="ko-KR" sz="1600" b="0" i="1" dirty="0" smtClean="0">
                  <a:latin typeface="Calade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0" i="1" smtClean="0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b="0" i="1" smtClean="0">
                              <a:latin typeface="Caladea" panose="02040503050406030204" pitchFamily="18" charset="0"/>
                            </a:rPr>
                            <m:t>𝜕</m:t>
                          </m:r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ko-KR" altLang="en-US" sz="1600" b="0" i="1" smtClean="0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US" altLang="ko-KR" sz="1600" b="0" i="1" smtClean="0">
                          <a:latin typeface="Calade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r>
                            <a:rPr lang="en-US" altLang="ko-KR" sz="1600" i="1">
                              <a:latin typeface="Caladea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600" i="1" dirty="0" smtClean="0"/>
              </a:p>
              <a:p>
                <a:endParaRPr lang="en-US" altLang="ko-KR" sz="1100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r>
                            <a:rPr lang="en-US" altLang="ko-KR" sz="1600" i="1">
                              <a:latin typeface="Caladea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US" altLang="ko-KR" sz="1600" i="1">
                          <a:latin typeface="Caladea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i="1">
                              <a:latin typeface="Caladea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ladea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i="1">
                              <a:latin typeface="Caladea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600" i="1">
                                  <a:latin typeface="Caladea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ko-KR" altLang="en-US" sz="1600" i="1">
                                  <a:latin typeface="Caladea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ladea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600" i="1">
                                  <a:latin typeface="Caladea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ladea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sz="1600" i="1">
                                  <a:latin typeface="Caladea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600" i="1">
                                  <a:latin typeface="Caladea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sz="1600" i="1">
                                  <a:latin typeface="Caladea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lade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ko-KR" sz="1600" i="1">
                          <a:latin typeface="Caladea" panose="02040503050406030204" pitchFamily="18" charset="0"/>
                          <a:ea typeface="Caladea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600" i="1" dirty="0" smtClean="0"/>
              </a:p>
              <a:p>
                <a:endParaRPr lang="en-US" altLang="ko-KR" sz="1600" i="1" dirty="0" smtClean="0">
                  <a:latin typeface="Caladea" panose="02040503050406030204" pitchFamily="18" charset="0"/>
                  <a:ea typeface="Calade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ladea" panose="02040503050406030204" pitchFamily="18" charset="0"/>
                          <a:ea typeface="Caladea" panose="02040503050406030204" pitchFamily="18" charset="0"/>
                        </a:rPr>
                        <m:t>∴</m:t>
                      </m:r>
                      <m:r>
                        <a:rPr lang="en-US" altLang="ko-KR" sz="1600" b="0" i="1" smtClean="0">
                          <a:latin typeface="Caladea" panose="02040503050406030204" pitchFamily="18" charset="0"/>
                          <a:ea typeface="Caladea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ko-KR" sz="1600" i="1">
                              <a:latin typeface="Caladea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r>
                            <a:rPr lang="en-US" altLang="ko-KR" sz="1600" i="1">
                              <a:latin typeface="Caladea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ko-KR" altLang="en-US" sz="1600" i="1">
                              <a:latin typeface="Caladea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US" altLang="ko-KR" sz="1600" i="1">
                          <a:latin typeface="Caladea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i="1" smtClean="0">
                              <a:latin typeface="Caladea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ladea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ladea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ladea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ladea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sz="1600" i="1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b="0" i="1" smtClean="0">
                                  <a:latin typeface="Caladea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ladea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lade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lade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600" i="1">
                          <a:latin typeface="Caladea" panose="02040503050406030204" pitchFamily="18" charset="0"/>
                          <a:ea typeface="Caladea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ladea" charset="0"/>
                              <a:ea typeface="Calade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  <a:ea typeface="Calade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ladea" panose="02040503050406030204" pitchFamily="18" charset="0"/>
                              <a:ea typeface="Caladea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2492896"/>
                <a:ext cx="3960440" cy="3083216"/>
              </a:xfrm>
              <a:prstGeom prst="rect">
                <a:avLst/>
              </a:prstGeom>
              <a:blipFill>
                <a:blip r:embed="rId5"/>
                <a:stretch>
                  <a:fillRect l="-3077" t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444756" y="2501096"/>
            <a:ext cx="839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True values</a:t>
            </a:r>
          </a:p>
        </p:txBody>
      </p:sp>
    </p:spTree>
    <p:extLst>
      <p:ext uri="{BB962C8B-B14F-4D97-AF65-F5344CB8AC3E}">
        <p14:creationId xmlns:p14="http://schemas.microsoft.com/office/powerpoint/2010/main" val="35694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rlito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Carlito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Liberation Sans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3087</TotalTime>
  <Words>1743</Words>
  <Application>Microsoft Macintosh PowerPoint</Application>
  <PresentationFormat>화면 슬라이드 쇼(4:3)</PresentationFormat>
  <Paragraphs>364</Paragraphs>
  <Slides>34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나눔고딕</vt:lpstr>
      <vt:lpstr>나눔명조</vt:lpstr>
      <vt:lpstr>맑은 고딕</vt:lpstr>
      <vt:lpstr>Arial</vt:lpstr>
      <vt:lpstr>Calibri</vt:lpstr>
      <vt:lpstr>Calibri Light</vt:lpstr>
      <vt:lpstr>Cambria Math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Jongho Kim</dc:creator>
  <cp:lastModifiedBy>Jongho Kim</cp:lastModifiedBy>
  <cp:revision>338</cp:revision>
  <cp:lastPrinted>2019-04-23T11:36:22Z</cp:lastPrinted>
  <dcterms:created xsi:type="dcterms:W3CDTF">2017-11-16T01:26:47Z</dcterms:created>
  <dcterms:modified xsi:type="dcterms:W3CDTF">2019-04-23T11:36:27Z</dcterms:modified>
</cp:coreProperties>
</file>